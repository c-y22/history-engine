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Exam A, top-ten hits</c:v>
                </c:pt>
              </c:strCache>
            </c:strRef>
          </c:tx>
          <c:spPr>
            <a:solidFill>
              <a:srgbClr val="2A78D6">
                <a:alpha val="100000"/>
              </a:srgbClr>
            </a:solidFill>
            <a:effectLst/>
          </c:spPr>
          <c:invertIfNegative val="0"/>
          <c:dLbls>
            <c:numFmt formatCode="#,##0" sourceLinked="0"/>
            <c:txPr>
              <a:bodyPr/>
              <a:lstStyle/>
              <a:p>
                <a:pPr>
                  <a:defRPr b="1" i="0" strike="noStrike" sz="1400" u="none">
                    <a:solidFill>
                      <a:srgbClr val="0B0B0B"/>
                    </a:solidFill>
                    <a:latin typeface="Calibri"/>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B6834"/>
              </a:solidFill>
              <a:effectLst/>
            </c:spPr>
          </c:dPt>
          <c:dPt>
            <c:idx val="2"/>
            <c:invertIfNegative val="0"/>
            <c:bubble3D val="0"/>
            <c:spPr>
              <a:solidFill>
                <a:srgbClr val="2A78D6"/>
              </a:solidFill>
              <a:effectLst/>
            </c:spPr>
          </c:dPt>
          <c:dPt>
            <c:idx val="3"/>
            <c:invertIfNegative val="0"/>
            <c:bubble3D val="0"/>
            <c:spPr>
              <a:solidFill>
                <a:srgbClr val="EB6834"/>
              </a:solidFill>
              <a:effectLst/>
            </c:spPr>
          </c:dPt>
          <c:dPt>
            <c:idx val="4"/>
            <c:invertIfNegative val="0"/>
            <c:bubble3D val="0"/>
            <c:spPr>
              <a:solidFill>
                <a:srgbClr val="898781"/>
              </a:solidFill>
              <a:effectLst/>
            </c:spPr>
          </c:dPt>
          <c:dPt>
            <c:idx val="5"/>
            <c:invertIfNegative val="0"/>
            <c:bubble3D val="0"/>
            <c:spPr>
              <a:solidFill>
                <a:srgbClr val="898781"/>
              </a:solidFill>
              <a:effectLst/>
            </c:spPr>
          </c:dPt>
          <c:cat>
            <c:multiLvlStrRef>
              <c:f>Sheet1!$A$2:$A$7</c:f>
              <c:multiLvlStrCache>
                <c:ptCount val="6"/>
                <c:lvl>
                  <c:pt idx="0">
                    <c:v>Full engine
(share × invis.)
n=88</c:v>
                  </c:pt>
                  <c:pt idx="1">
                    <c:v>Share only
precise data
n=88</c:v>
                  </c:pt>
                  <c:pt idx="2">
                    <c:v>Product on
coarse data</c:v>
                  </c:pt>
                  <c:pt idx="3">
                    <c:v>Share only
coarse data</c:v>
                  </c:pt>
                  <c:pt idx="4">
                    <c:v>Invisibility
only
n=88</c:v>
                  </c:pt>
                  <c:pt idx="5">
                    <c:v>USGS score
only · n=49</c:v>
                  </c:pt>
                </c:lvl>
              </c:multiLvlStrCache>
            </c:multiLvlStrRef>
          </c:cat>
          <c:val>
            <c:numRef>
              <c:f>Sheet1!$B$2:$B$7</c:f>
              <c:numCache>
                <c:formatCode>General</c:formatCode>
                <c:ptCount val="6"/>
                <c:pt idx="0">
                  <c:v>9</c:v>
                </c:pt>
                <c:pt idx="1">
                  <c:v>10</c:v>
                </c:pt>
                <c:pt idx="2">
                  <c:v>7</c:v>
                </c:pt>
                <c:pt idx="3">
                  <c:v>5</c:v>
                </c:pt>
                <c:pt idx="4">
                  <c:v>4</c:v>
                </c:pt>
                <c:pt idx="5">
                  <c:v>2</c:v>
                </c:pt>
              </c:numCache>
            </c:numRef>
          </c:val>
        </c:ser>
        <c:dLbls>
          <c:numFmt formatCode="#,##0" sourceLinked="0"/>
          <c:txPr>
            <a:bodyPr/>
            <a:lstStyle/>
            <a:p>
              <a:pPr>
                <a:defRPr b="1" i="0" strike="noStrike" sz="1400" u="none">
                  <a:solidFill>
                    <a:srgbClr val="0B0B0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Calibri"/>
              </a:defRPr>
            </a:pPr>
            <a:endParaRPr lang="en-US"/>
          </a:p>
        </c:txPr>
        <c:crossAx val="2094734552"/>
        <c:crosses val="autoZero"/>
        <c:auto val="1"/>
        <c:lblAlgn val="ctr"/>
        <c:noMultiLvlLbl val="1"/>
      </c:catAx>
      <c:valAx>
        <c:axId val="2094734552"/>
        <c:scaling>
          <c:orientation val="minMax"/>
          <c:max val="10"/>
        </c:scaling>
        <c:delete val="0"/>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98781"/>
                </a:solidFill>
                <a:latin typeface="Calibri"/>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One-sentence claim, then the three verbs that organize the talk: made (H1), mapped (H2a), woken (H2b).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neon, then cut to gallium. The three numbers on the right: the card was huge, nobody was looking, and we can see it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treatment itself is a contribution: gate off what can't be predicted, measure what nobody has measured, import what is mature.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Pilot scatter. Restricted residents of the latent zone were hit 7 to 19 months after the map was drawn. Fluorspar is still untouched and is the number-one standing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export controls as the answer key: the only event set that is complete, officially dated, and triggered by an actor who knows its own cards. A natural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 regression: too few datable facilities, and permit dates mostly reflect the 2017 rollout of the permit system. Careful descriptive evidence with sourcing per data point is stronger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to H2: stacking share inside a host generates no news. High criticality with low visibility is a manufactured equilibrium, not something the market has not gotten around to noticing.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discipline: this is not sanction prediction. It verifies the map. When the card-holder shows its hand, do the cards come from the zone? Each lock blocks one specific cheating accusation.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 level answers the obviousness objection: take the whole rare-earth family off the board and the independent hits on bismuth, tungsten, tellurium, indium, gallium, germanium, antimony are still at the 1-in-a-million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share-only wins by one: say it plainly — collinear factors, H2a can't separate them; the product's H2a value is diamond at #1 and coarse-data robustness; separation is H2b's grid, two slides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Conditioning on 'was restricted' removes the player's strategy from the equation. This is the cleanest exam room the formula will ever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division of labor: news listens to unpreparedness (an information phenomenon), prices listen to the full product (a physical one: chokeable supply times empty warehouses), stocks sit in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Antimony is the theory's negative space. Diamond shows the darkest commodity being read only by the most sensitive of the three instruments.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honesty clauses as a feature: for every question a referee could raise, the file already holds a first-move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verbs, then hand the advisor three real decisions rather than a status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Point to it if asked where any number comes from; the manifest files carry per-cell URLs and access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4A"/>
        </a:solidFill>
      </p:bgPr>
    </p:bg>
    <p:spTree>
      <p:nvGrpSpPr>
        <p:cNvPr id="1" name=""/>
        <p:cNvGrpSpPr/>
        <p:nvPr/>
      </p:nvGrpSpPr>
      <p:grpSpPr>
        <a:xfrm>
          <a:off x="0" y="0"/>
          <a:ext cx="0" cy="0"/>
          <a:chOff x="0" y="0"/>
          <a:chExt cx="0" cy="0"/>
        </a:xfrm>
      </p:grpSpPr>
      <p:sp>
        <p:nvSpPr>
          <p:cNvPr id="2" name="Text 0"/>
          <p:cNvSpPr/>
          <p:nvPr/>
        </p:nvSpPr>
        <p:spPr>
          <a:xfrm>
            <a:off x="822960" y="1417320"/>
            <a:ext cx="10789920" cy="1005840"/>
          </a:xfrm>
          <a:prstGeom prst="rect">
            <a:avLst/>
          </a:prstGeom>
          <a:noFill/>
          <a:ln/>
        </p:spPr>
        <p:txBody>
          <a:bodyPr wrap="square" lIns="0" tIns="0" rIns="0" bIns="0"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The History Engine</a:t>
            </a:r>
            <a:endParaRPr lang="en-US" sz="5000" dirty="0"/>
          </a:p>
        </p:txBody>
      </p:sp>
      <p:sp>
        <p:nvSpPr>
          <p:cNvPr id="3" name="Text 1"/>
          <p:cNvSpPr/>
          <p:nvPr/>
        </p:nvSpPr>
        <p:spPr>
          <a:xfrm>
            <a:off x="822960" y="2468880"/>
            <a:ext cx="10515600" cy="548640"/>
          </a:xfrm>
          <a:prstGeom prst="rect">
            <a:avLst/>
          </a:prstGeom>
          <a:noFill/>
          <a:ln/>
        </p:spPr>
        <p:txBody>
          <a:bodyPr wrap="square" lIns="0" tIns="0" rIns="0" bIns="0" rtlCol="0" anchor="ctr"/>
          <a:lstStyle/>
          <a:p>
            <a:pPr indent="0" marL="0">
              <a:buNone/>
            </a:pPr>
            <a:r>
              <a:rPr lang="en-US" sz="2100" dirty="0">
                <a:solidFill>
                  <a:srgbClr val="CADCFC"/>
                </a:solidFill>
                <a:latin typeface="Calibri" pitchFamily="34" charset="0"/>
                <a:ea typeface="Calibri" pitchFamily="34" charset="-122"/>
                <a:cs typeface="Calibri" pitchFamily="34" charset="-120"/>
              </a:rPr>
              <a:t>How latent supply-chain chokepoints are made, mapped, and woken up</a:t>
            </a:r>
            <a:endParaRPr lang="en-US" sz="2100" dirty="0"/>
          </a:p>
        </p:txBody>
      </p:sp>
      <p:sp>
        <p:nvSpPr>
          <p:cNvPr id="4" name="Text 2"/>
          <p:cNvSpPr/>
          <p:nvPr/>
        </p:nvSpPr>
        <p:spPr>
          <a:xfrm>
            <a:off x="822960" y="3383280"/>
            <a:ext cx="10424160" cy="1554480"/>
          </a:xfrm>
          <a:prstGeom prst="rect">
            <a:avLst/>
          </a:prstGeom>
          <a:noFill/>
          <a:ln/>
        </p:spPr>
        <p:txBody>
          <a:bodyPr wrap="square" lIns="0" tIns="0" rIns="0" bIns="0" rtlCol="0" anchor="ctr"/>
          <a:lstStyle/>
          <a:p>
            <a:pPr indent="0" marL="0">
              <a:lnSpc>
                <a:spcPct val="125000"/>
              </a:lnSpc>
              <a:buNone/>
            </a:pPr>
            <a:r>
              <a:rPr lang="en-US" sz="1500" dirty="0">
                <a:solidFill>
                  <a:srgbClr val="FFFFFF"/>
                </a:solidFill>
                <a:latin typeface="Calibri" pitchFamily="34" charset="0"/>
                <a:ea typeface="Calibri" pitchFamily="34" charset="-122"/>
                <a:cs typeface="Calibri" pitchFamily="34" charset="-120"/>
              </a:rPr>
              <a:t>The claim: supply-chain power sleeps in a latent zone of critical but invisible commodities.</a:t>
            </a:r>
            <a:endParaRPr lang="en-US" sz="1500" dirty="0"/>
          </a:p>
          <a:p>
            <a:pPr indent="0" marL="0">
              <a:lnSpc>
                <a:spcPct val="125000"/>
              </a:lnSpc>
              <a:buNone/>
            </a:pPr>
            <a:r>
              <a:rPr lang="en-US" sz="1500" dirty="0">
                <a:solidFill>
                  <a:srgbClr val="FFFFFF"/>
                </a:solidFill>
                <a:latin typeface="Calibri" pitchFamily="34" charset="0"/>
                <a:ea typeface="Calibri" pitchFamily="34" charset="-122"/>
                <a:cs typeface="Calibri" pitchFamily="34" charset="-120"/>
              </a:rPr>
              <a:t>A sedimentation mechanism builds it (H1); a two-factor score built from public data separates</a:t>
            </a:r>
            <a:endParaRPr lang="en-US" sz="1500" dirty="0"/>
          </a:p>
          <a:p>
            <a:pPr indent="0" marL="0">
              <a:lnSpc>
                <a:spcPct val="125000"/>
              </a:lnSpc>
              <a:buNone/>
            </a:pPr>
            <a:r>
              <a:rPr lang="en-US" sz="1500" dirty="0">
                <a:solidFill>
                  <a:srgbClr val="FFFFFF"/>
                </a:solidFill>
                <a:latin typeface="Calibri" pitchFamily="34" charset="0"/>
                <a:ea typeface="Calibri" pitchFamily="34" charset="-122"/>
                <a:cs typeface="Calibri" pitchFamily="34" charset="-120"/>
              </a:rPr>
              <a:t>real latent chokepoints from false alarms, graded against seven real-world reveals (H2a);</a:t>
            </a:r>
            <a:endParaRPr lang="en-US" sz="1500" dirty="0"/>
          </a:p>
          <a:p>
            <a:pPr indent="0" marL="0">
              <a:lnSpc>
                <a:spcPct val="125000"/>
              </a:lnSpc>
              <a:buNone/>
            </a:pPr>
            <a:r>
              <a:rPr lang="en-US" sz="1500" dirty="0">
                <a:solidFill>
                  <a:srgbClr val="FFFFFF"/>
                </a:solidFill>
                <a:latin typeface="Calibri" pitchFamily="34" charset="0"/>
                <a:ea typeface="Calibri" pitchFamily="34" charset="-122"/>
                <a:cs typeface="Calibri" pitchFamily="34" charset="-120"/>
              </a:rPr>
              <a:t>and how hard one wakes up follows criticality × unpreparedness (H2b, validated).</a:t>
            </a:r>
            <a:endParaRPr lang="en-US" sz="1500" dirty="0"/>
          </a:p>
        </p:txBody>
      </p:sp>
      <p:sp>
        <p:nvSpPr>
          <p:cNvPr id="5" name="Text 3"/>
          <p:cNvSpPr/>
          <p:nvPr/>
        </p:nvSpPr>
        <p:spPr>
          <a:xfrm>
            <a:off x="822960" y="5943600"/>
            <a:ext cx="7315200" cy="365760"/>
          </a:xfrm>
          <a:prstGeom prst="rect">
            <a:avLst/>
          </a:prstGeom>
          <a:noFill/>
          <a:ln/>
        </p:spPr>
        <p:txBody>
          <a:bodyPr wrap="square" lIns="0" tIns="0" rIns="0" bIns="0" rtlCol="0" anchor="ctr"/>
          <a:lstStyle/>
          <a:p>
            <a:pPr indent="0" marL="0">
              <a:buNone/>
            </a:pPr>
            <a:r>
              <a:rPr lang="en-US" sz="1300" dirty="0">
                <a:solidFill>
                  <a:srgbClr val="8FA3C8"/>
                </a:solidFill>
                <a:latin typeface="Calibri" pitchFamily="34" charset="0"/>
                <a:ea typeface="Calibri" pitchFamily="34" charset="-122"/>
                <a:cs typeface="Calibri" pitchFamily="34" charset="-120"/>
              </a:rPr>
              <a:t>Chunyang Zhang · advisor meeting · August 2026</a:t>
            </a:r>
            <a:endParaRPr lang="en-US" sz="1300" dirty="0"/>
          </a:p>
        </p:txBody>
      </p:sp>
      <p:sp>
        <p:nvSpPr>
          <p:cNvPr id="6" name="Shape 4"/>
          <p:cNvSpPr/>
          <p:nvPr/>
        </p:nvSpPr>
        <p:spPr>
          <a:xfrm>
            <a:off x="0" y="5257800"/>
            <a:ext cx="12188952" cy="18288"/>
          </a:xfrm>
          <a:prstGeom prst="rect">
            <a:avLst/>
          </a:prstGeom>
          <a:solidFill>
            <a:srgbClr val="2E447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74320"/>
          </a:xfrm>
          <a:prstGeom prst="rect">
            <a:avLst/>
          </a:prstGeom>
          <a:noFill/>
          <a:ln/>
        </p:spPr>
        <p:txBody>
          <a:bodyPr wrap="square" lIns="0" tIns="0" rIns="0" bIns="0" rtlCol="0" anchor="ctr"/>
          <a:lstStyle/>
          <a:p>
            <a:pPr indent="0" marL="0">
              <a:buNone/>
            </a:pPr>
            <a:r>
              <a:rPr lang="en-US" sz="1200" b="1" spc="200" kern="0" dirty="0">
                <a:solidFill>
                  <a:srgbClr val="2A78D6"/>
                </a:solidFill>
                <a:latin typeface="Calibri" pitchFamily="34" charset="0"/>
                <a:ea typeface="Calibri" pitchFamily="34" charset="-122"/>
                <a:cs typeface="Calibri" pitchFamily="34" charset="-120"/>
              </a:rPr>
              <a:t>THE QUESTION</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Why do chokepoints get discovered only after they blow up?</a:t>
            </a:r>
            <a:endParaRPr lang="en-US" sz="2800" dirty="0"/>
          </a:p>
        </p:txBody>
      </p:sp>
      <p:sp>
        <p:nvSpPr>
          <p:cNvPr id="4" name="Text 2"/>
          <p:cNvSpPr/>
          <p:nvPr/>
        </p:nvSpPr>
        <p:spPr>
          <a:xfrm>
            <a:off x="548640" y="1463040"/>
            <a:ext cx="6400800" cy="4023360"/>
          </a:xfrm>
          <a:prstGeom prst="rect">
            <a:avLst/>
          </a:prstGeom>
          <a:noFill/>
          <a:ln/>
        </p:spPr>
        <p:txBody>
          <a:bodyPr wrap="square" lIns="0" tIns="0" rIns="0" bIns="0" rtlCol="0" anchor="ctr"/>
          <a:lstStyle/>
          <a:p>
            <a:pPr indent="0" marL="0">
              <a:lnSpc>
                <a:spcPct val="130000"/>
              </a:lnSpc>
              <a:spcAft>
                <a:spcPts val="1200"/>
              </a:spcAft>
              <a:buNone/>
            </a:pPr>
            <a:r>
              <a:rPr lang="en-US" sz="1550" dirty="0">
                <a:solidFill>
                  <a:srgbClr val="0B0B0B"/>
                </a:solidFill>
                <a:latin typeface="Calibri" pitchFamily="34" charset="0"/>
                <a:ea typeface="Calibri" pitchFamily="34" charset="-122"/>
                <a:cs typeface="Calibri" pitchFamily="34" charset="-120"/>
              </a:rPr>
              <a:t>In 2022 the world learned that roughly half of semiconductor-grade neon came from two purification firms in Mariupol and Odesa, Ukraine. It learned this after the missiles hit (Reuters, March 2022).
</a:t>
            </a:r>
            <a:endParaRPr lang="en-US" sz="1550" dirty="0"/>
          </a:p>
          <a:p>
            <a:pPr indent="0" marL="0">
              <a:lnSpc>
                <a:spcPct val="130000"/>
              </a:lnSpc>
              <a:spcAft>
                <a:spcPts val="1200"/>
              </a:spcAft>
              <a:buNone/>
            </a:pPr>
            <a:r>
              <a:rPr lang="en-US" sz="1550" dirty="0">
                <a:solidFill>
                  <a:srgbClr val="0B0B0B"/>
                </a:solidFill>
                <a:latin typeface="Calibri" pitchFamily="34" charset="0"/>
                <a:ea typeface="Calibri" pitchFamily="34" charset="-122"/>
                <a:cs typeface="Calibri" pitchFamily="34" charset="-120"/>
              </a:rPr>
              <a:t>On July 3, 2023, China restricted gallium and germanium exports. The move set off an industry scramble — U.S. supplier AXT filed for export permits the next day (Reuters, July 4, 2023) — even though China's 98% share of low-purity gallium had been sitting in USGS yearbooks for a decade (USGS MCS 2023).
</a:t>
            </a:r>
            <a:endParaRPr lang="en-US" sz="1550" dirty="0"/>
          </a:p>
          <a:p>
            <a:pPr indent="0" marL="0">
              <a:lnSpc>
                <a:spcPct val="130000"/>
              </a:lnSpc>
              <a:spcAft>
                <a:spcPts val="1200"/>
              </a:spcAft>
              <a:buNone/>
            </a:pPr>
            <a:r>
              <a:rPr lang="en-US" sz="1550" dirty="0">
                <a:solidFill>
                  <a:srgbClr val="52514E"/>
                </a:solidFill>
                <a:latin typeface="Calibri" pitchFamily="34" charset="0"/>
                <a:ea typeface="Calibri" pitchFamily="34" charset="-122"/>
                <a:cs typeface="Calibri" pitchFamily="34" charset="-120"/>
              </a:rPr>
              <a:t>The standard tools ask who is cheapest (comparative advantage) or who should worry (criticality ratings). Neither asks who has been quietly stacking cards in the dark.</a:t>
            </a:r>
            <a:endParaRPr lang="en-US" sz="1550" dirty="0"/>
          </a:p>
        </p:txBody>
      </p:sp>
      <p:sp>
        <p:nvSpPr>
          <p:cNvPr id="5" name="Shape 3"/>
          <p:cNvSpPr/>
          <p:nvPr/>
        </p:nvSpPr>
        <p:spPr>
          <a:xfrm>
            <a:off x="7315200" y="1554480"/>
            <a:ext cx="4206240" cy="1417320"/>
          </a:xfrm>
          <a:prstGeom prst="roundRect">
            <a:avLst>
              <a:gd name="adj" fmla="val 5161"/>
            </a:avLst>
          </a:prstGeom>
          <a:solidFill>
            <a:srgbClr val="F4F6FA"/>
          </a:solidFill>
          <a:ln/>
        </p:spPr>
      </p:sp>
      <p:sp>
        <p:nvSpPr>
          <p:cNvPr id="6" name="Text 4"/>
          <p:cNvSpPr/>
          <p:nvPr/>
        </p:nvSpPr>
        <p:spPr>
          <a:xfrm>
            <a:off x="7452360" y="1664208"/>
            <a:ext cx="3931920" cy="731520"/>
          </a:xfrm>
          <a:prstGeom prst="rect">
            <a:avLst/>
          </a:prstGeom>
          <a:noFill/>
          <a:ln/>
        </p:spPr>
        <p:txBody>
          <a:bodyPr wrap="square" lIns="0" tIns="0" rIns="0" bIns="0" rtlCol="0" anchor="ctr"/>
          <a:lstStyle/>
          <a:p>
            <a:pPr indent="0" marL="0">
              <a:buNone/>
            </a:pPr>
            <a:r>
              <a:rPr lang="en-US" sz="2800" b="1" dirty="0">
                <a:solidFill>
                  <a:srgbClr val="EB6834"/>
                </a:solidFill>
                <a:latin typeface="Calibri" pitchFamily="34" charset="0"/>
                <a:ea typeface="Calibri" pitchFamily="34" charset="-122"/>
                <a:cs typeface="Calibri" pitchFamily="34" charset="-120"/>
              </a:rPr>
              <a:t>98.2%</a:t>
            </a:r>
            <a:endParaRPr lang="en-US" sz="2800" dirty="0"/>
          </a:p>
        </p:txBody>
      </p:sp>
      <p:sp>
        <p:nvSpPr>
          <p:cNvPr id="7" name="Text 5"/>
          <p:cNvSpPr/>
          <p:nvPr/>
        </p:nvSpPr>
        <p:spPr>
          <a:xfrm>
            <a:off x="7452360" y="2359152"/>
            <a:ext cx="3931920" cy="5486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China's share of global low-purity gallium output (USGS Mineral Commodity Summaries 2023)</a:t>
            </a:r>
            <a:endParaRPr lang="en-US" sz="1100" dirty="0"/>
          </a:p>
        </p:txBody>
      </p:sp>
      <p:sp>
        <p:nvSpPr>
          <p:cNvPr id="8" name="Shape 6"/>
          <p:cNvSpPr/>
          <p:nvPr/>
        </p:nvSpPr>
        <p:spPr>
          <a:xfrm>
            <a:off x="7315200" y="3154680"/>
            <a:ext cx="4206240" cy="1417320"/>
          </a:xfrm>
          <a:prstGeom prst="roundRect">
            <a:avLst>
              <a:gd name="adj" fmla="val 5161"/>
            </a:avLst>
          </a:prstGeom>
          <a:solidFill>
            <a:srgbClr val="F4F6FA"/>
          </a:solidFill>
          <a:ln/>
        </p:spPr>
      </p:sp>
      <p:sp>
        <p:nvSpPr>
          <p:cNvPr id="9" name="Text 7"/>
          <p:cNvSpPr/>
          <p:nvPr/>
        </p:nvSpPr>
        <p:spPr>
          <a:xfrm>
            <a:off x="7452360" y="3264408"/>
            <a:ext cx="3931920" cy="731520"/>
          </a:xfrm>
          <a:prstGeom prst="rect">
            <a:avLst/>
          </a:prstGeom>
          <a:noFill/>
          <a:ln/>
        </p:spPr>
        <p:txBody>
          <a:bodyPr wrap="square" lIns="0" tIns="0" rIns="0" bIns="0" rtlCol="0" anchor="ctr"/>
          <a:lstStyle/>
          <a:p>
            <a:pPr indent="0" marL="0">
              <a:buNone/>
            </a:pPr>
            <a:r>
              <a:rPr lang="en-US" sz="2800" b="1" dirty="0">
                <a:solidFill>
                  <a:srgbClr val="2A78D6"/>
                </a:solidFill>
                <a:latin typeface="Calibri" pitchFamily="34" charset="0"/>
                <a:ea typeface="Calibri" pitchFamily="34" charset="-122"/>
                <a:cs typeface="Calibri" pitchFamily="34" charset="-120"/>
              </a:rPr>
              <a:t>394 articles</a:t>
            </a:r>
            <a:endParaRPr lang="en-US" sz="2800" dirty="0"/>
          </a:p>
        </p:txBody>
      </p:sp>
      <p:sp>
        <p:nvSpPr>
          <p:cNvPr id="10" name="Text 8"/>
          <p:cNvSpPr/>
          <p:nvPr/>
        </p:nvSpPr>
        <p:spPr>
          <a:xfrm>
            <a:off x="7452360" y="3959352"/>
            <a:ext cx="3931920" cy="5486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all English supply-chain coverage of gallium in the 24 months before it was restricted (author's measurement, Media Cloud)</a:t>
            </a:r>
            <a:endParaRPr lang="en-US" sz="1100" dirty="0"/>
          </a:p>
        </p:txBody>
      </p:sp>
      <p:sp>
        <p:nvSpPr>
          <p:cNvPr id="11" name="Shape 9"/>
          <p:cNvSpPr/>
          <p:nvPr/>
        </p:nvSpPr>
        <p:spPr>
          <a:xfrm>
            <a:off x="7315200" y="4754880"/>
            <a:ext cx="4206240" cy="1417320"/>
          </a:xfrm>
          <a:prstGeom prst="roundRect">
            <a:avLst>
              <a:gd name="adj" fmla="val 5161"/>
            </a:avLst>
          </a:prstGeom>
          <a:solidFill>
            <a:srgbClr val="F4F6FA"/>
          </a:solidFill>
          <a:ln/>
        </p:spPr>
      </p:sp>
      <p:sp>
        <p:nvSpPr>
          <p:cNvPr id="12" name="Text 10"/>
          <p:cNvSpPr/>
          <p:nvPr/>
        </p:nvSpPr>
        <p:spPr>
          <a:xfrm>
            <a:off x="7452360" y="4864608"/>
            <a:ext cx="3931920" cy="731520"/>
          </a:xfrm>
          <a:prstGeom prst="rect">
            <a:avLst/>
          </a:prstGeom>
          <a:noFill/>
          <a:ln/>
        </p:spPr>
        <p:txBody>
          <a:bodyPr wrap="square" lIns="0" tIns="0" rIns="0" bIns="0" rtlCol="0" anchor="ctr"/>
          <a:lstStyle/>
          <a:p>
            <a:pPr indent="0" marL="0">
              <a:buNone/>
            </a:pPr>
            <a:r>
              <a:rPr lang="en-US" sz="2800" b="1" dirty="0">
                <a:solidFill>
                  <a:srgbClr val="1BAF7A"/>
                </a:solidFill>
                <a:latin typeface="Calibri" pitchFamily="34" charset="0"/>
                <a:ea typeface="Calibri" pitchFamily="34" charset="-122"/>
                <a:cs typeface="Calibri" pitchFamily="34" charset="-120"/>
              </a:rPr>
              <a:t>21–27 months</a:t>
            </a:r>
            <a:endParaRPr lang="en-US" sz="2800" dirty="0"/>
          </a:p>
        </p:txBody>
      </p:sp>
      <p:sp>
        <p:nvSpPr>
          <p:cNvPr id="13" name="Text 11"/>
          <p:cNvSpPr/>
          <p:nvPr/>
        </p:nvSpPr>
        <p:spPr>
          <a:xfrm>
            <a:off x="7452360" y="5559552"/>
            <a:ext cx="3931920" cy="5486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the July 2023 top ten holds synthetic diamond plus eight rare earths — all restricted in 2025 (graded against MOFCOM announcements)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74320"/>
          </a:xfrm>
          <a:prstGeom prst="rect">
            <a:avLst/>
          </a:prstGeom>
          <a:noFill/>
          <a:ln/>
        </p:spPr>
        <p:txBody>
          <a:bodyPr wrap="square" lIns="0" tIns="0" rIns="0" bIns="0" rtlCol="0" anchor="ctr"/>
          <a:lstStyle/>
          <a:p>
            <a:pPr indent="0" marL="0">
              <a:buNone/>
            </a:pPr>
            <a:r>
              <a:rPr lang="en-US" sz="1200" b="1" spc="200" kern="0" dirty="0">
                <a:solidFill>
                  <a:srgbClr val="2A78D6"/>
                </a:solidFill>
                <a:latin typeface="Calibri" pitchFamily="34" charset="0"/>
                <a:ea typeface="Calibri" pitchFamily="34" charset="-122"/>
                <a:cs typeface="Calibri" pitchFamily="34" charset="-120"/>
              </a:rPr>
              <a:t>FRAMEWORK</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Three axes, three different treatments</a:t>
            </a:r>
            <a:endParaRPr lang="en-US" sz="2800" dirty="0"/>
          </a:p>
        </p:txBody>
      </p:sp>
      <p:sp>
        <p:nvSpPr>
          <p:cNvPr id="4" name="Shape 2"/>
          <p:cNvSpPr/>
          <p:nvPr/>
        </p:nvSpPr>
        <p:spPr>
          <a:xfrm>
            <a:off x="594360" y="1490472"/>
            <a:ext cx="384048" cy="384048"/>
          </a:xfrm>
          <a:prstGeom prst="ellipse">
            <a:avLst/>
          </a:prstGeom>
          <a:solidFill>
            <a:srgbClr val="2A78D6"/>
          </a:solidFill>
          <a:ln/>
        </p:spPr>
      </p:sp>
      <p:sp>
        <p:nvSpPr>
          <p:cNvPr id="5" name="Text 3"/>
          <p:cNvSpPr/>
          <p:nvPr/>
        </p:nvSpPr>
        <p:spPr>
          <a:xfrm>
            <a:off x="594360" y="1476756"/>
            <a:ext cx="38404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43000" y="1417320"/>
            <a:ext cx="10424160" cy="384048"/>
          </a:xfrm>
          <a:prstGeom prst="rect">
            <a:avLst/>
          </a:prstGeom>
          <a:noFill/>
          <a:ln/>
        </p:spPr>
        <p:txBody>
          <a:bodyPr wrap="square" lIns="0" tIns="0" rIns="0" bIns="0" rtlCol="0" anchor="ctr"/>
          <a:lstStyle/>
          <a:p>
            <a:pPr indent="0" marL="0">
              <a:buNone/>
            </a:pPr>
            <a:r>
              <a:rPr lang="en-US" sz="1700" b="1" dirty="0">
                <a:solidFill>
                  <a:srgbClr val="0B0B0B"/>
                </a:solidFill>
                <a:latin typeface="Calibri" pitchFamily="34" charset="0"/>
                <a:ea typeface="Calibri" pitchFamily="34" charset="-122"/>
                <a:cs typeface="Calibri" pitchFamily="34" charset="-120"/>
              </a:rPr>
              <a:t>Reflexivity   </a:t>
            </a:r>
            <a:pPr indent="0" marL="0">
              <a:buNone/>
            </a:pPr>
            <a:r>
              <a:rPr lang="en-US" sz="1400" b="1" dirty="0">
                <a:solidFill>
                  <a:srgbClr val="2A78D6"/>
                </a:solidFill>
                <a:latin typeface="Calibri" pitchFamily="34" charset="0"/>
                <a:ea typeface="Calibri" pitchFamily="34" charset="-122"/>
                <a:cs typeface="Calibri" pitchFamily="34" charset="-120"/>
              </a:rPr>
              <a:t>Will it hear the prediction?</a:t>
            </a:r>
            <a:endParaRPr lang="en-US" sz="1700" dirty="0"/>
          </a:p>
        </p:txBody>
      </p:sp>
      <p:sp>
        <p:nvSpPr>
          <p:cNvPr id="7" name="Text 5"/>
          <p:cNvSpPr/>
          <p:nvPr/>
        </p:nvSpPr>
        <p:spPr>
          <a:xfrm>
            <a:off x="1143000" y="1819656"/>
            <a:ext cx="10424160" cy="777240"/>
          </a:xfrm>
          <a:prstGeom prst="rect">
            <a:avLst/>
          </a:prstGeom>
          <a:noFill/>
          <a:ln/>
        </p:spPr>
        <p:txBody>
          <a:bodyPr wrap="square" lIns="0" tIns="0" rIns="0" bIns="0" rtlCol="0" anchor="ctr"/>
          <a:lstStyle/>
          <a:p>
            <a:pPr indent="0" marL="0">
              <a:lnSpc>
                <a:spcPct val="115000"/>
              </a:lnSpc>
              <a:buNone/>
            </a:pPr>
            <a:r>
              <a:rPr lang="en-US" sz="1300" dirty="0">
                <a:solidFill>
                  <a:srgbClr val="52514E"/>
                </a:solidFill>
                <a:latin typeface="Calibri" pitchFamily="34" charset="0"/>
                <a:ea typeface="Calibri" pitchFamily="34" charset="-122"/>
                <a:cs typeface="Calibri" pitchFamily="34" charset="-120"/>
              </a:rPr>
              <a:t>A design rule, not a variable: predict only structural facts — capacity, installed circuits — never prices or policy timing. Structure, once in place, does not easily change, and that is what makes it assessable years ahead. (Soros 2013; Grunberg &amp; Modigliani 1954; Lucas 1976)</a:t>
            </a:r>
            <a:endParaRPr lang="en-US" sz="1300" dirty="0"/>
          </a:p>
        </p:txBody>
      </p:sp>
      <p:sp>
        <p:nvSpPr>
          <p:cNvPr id="8" name="Shape 6"/>
          <p:cNvSpPr/>
          <p:nvPr/>
        </p:nvSpPr>
        <p:spPr>
          <a:xfrm>
            <a:off x="594360" y="2862072"/>
            <a:ext cx="384048" cy="384048"/>
          </a:xfrm>
          <a:prstGeom prst="ellipse">
            <a:avLst/>
          </a:prstGeom>
          <a:solidFill>
            <a:srgbClr val="EB6834"/>
          </a:solidFill>
          <a:ln/>
        </p:spPr>
      </p:sp>
      <p:sp>
        <p:nvSpPr>
          <p:cNvPr id="9" name="Text 7"/>
          <p:cNvSpPr/>
          <p:nvPr/>
        </p:nvSpPr>
        <p:spPr>
          <a:xfrm>
            <a:off x="594360" y="2848356"/>
            <a:ext cx="38404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143000" y="2788920"/>
            <a:ext cx="10424160" cy="384048"/>
          </a:xfrm>
          <a:prstGeom prst="rect">
            <a:avLst/>
          </a:prstGeom>
          <a:noFill/>
          <a:ln/>
        </p:spPr>
        <p:txBody>
          <a:bodyPr wrap="square" lIns="0" tIns="0" rIns="0" bIns="0" rtlCol="0" anchor="ctr"/>
          <a:lstStyle/>
          <a:p>
            <a:pPr indent="0" marL="0">
              <a:buNone/>
            </a:pPr>
            <a:r>
              <a:rPr lang="en-US" sz="1700" b="1" dirty="0">
                <a:solidFill>
                  <a:srgbClr val="0B0B0B"/>
                </a:solidFill>
                <a:latin typeface="Calibri" pitchFamily="34" charset="0"/>
                <a:ea typeface="Calibri" pitchFamily="34" charset="-122"/>
                <a:cs typeface="Calibri" pitchFamily="34" charset="-120"/>
              </a:rPr>
              <a:t>Visibility   </a:t>
            </a:r>
            <a:pPr indent="0" marL="0">
              <a:buNone/>
            </a:pPr>
            <a:r>
              <a:rPr lang="en-US" sz="1400" b="1" dirty="0">
                <a:solidFill>
                  <a:srgbClr val="EB6834"/>
                </a:solidFill>
                <a:latin typeface="Calibri" pitchFamily="34" charset="0"/>
                <a:ea typeface="Calibri" pitchFamily="34" charset="-122"/>
                <a:cs typeface="Calibri" pitchFamily="34" charset="-120"/>
              </a:rPr>
              <a:t>Is anyone watching?</a:t>
            </a:r>
            <a:endParaRPr lang="en-US" sz="1700" dirty="0"/>
          </a:p>
        </p:txBody>
      </p:sp>
      <p:sp>
        <p:nvSpPr>
          <p:cNvPr id="11" name="Text 9"/>
          <p:cNvSpPr/>
          <p:nvPr/>
        </p:nvSpPr>
        <p:spPr>
          <a:xfrm>
            <a:off x="1143000" y="3191256"/>
            <a:ext cx="10424160" cy="777240"/>
          </a:xfrm>
          <a:prstGeom prst="rect">
            <a:avLst/>
          </a:prstGeom>
          <a:noFill/>
          <a:ln/>
        </p:spPr>
        <p:txBody>
          <a:bodyPr wrap="square" lIns="0" tIns="0" rIns="0" bIns="0" rtlCol="0" anchor="ctr"/>
          <a:lstStyle/>
          <a:p>
            <a:pPr indent="0" marL="0">
              <a:lnSpc>
                <a:spcPct val="115000"/>
              </a:lnSpc>
              <a:buNone/>
            </a:pPr>
            <a:r>
              <a:rPr lang="en-US" sz="1300" dirty="0">
                <a:solidFill>
                  <a:srgbClr val="52514E"/>
                </a:solidFill>
                <a:latin typeface="Calibri" pitchFamily="34" charset="0"/>
                <a:ea typeface="Calibri" pitchFamily="34" charset="-122"/>
                <a:cs typeface="Calibri" pitchFamily="34" charset="-120"/>
              </a:rPr>
              <a:t>Measured ourselves: context-filtered news counts on the Media Cloud archive (Roberts et al. 2021) — 100 commodities × 6 dates = 600 cells. Search terms are generated by outcome-blind mechanical rules and adversarially audited; corrections happen only under result-blind triggers, with both versions reported.</a:t>
            </a:r>
            <a:endParaRPr lang="en-US" sz="1300" dirty="0"/>
          </a:p>
        </p:txBody>
      </p:sp>
      <p:sp>
        <p:nvSpPr>
          <p:cNvPr id="12" name="Shape 10"/>
          <p:cNvSpPr/>
          <p:nvPr/>
        </p:nvSpPr>
        <p:spPr>
          <a:xfrm>
            <a:off x="594360" y="4233672"/>
            <a:ext cx="384048" cy="384048"/>
          </a:xfrm>
          <a:prstGeom prst="ellipse">
            <a:avLst/>
          </a:prstGeom>
          <a:solidFill>
            <a:srgbClr val="1BAF7A"/>
          </a:solidFill>
          <a:ln/>
        </p:spPr>
      </p:sp>
      <p:sp>
        <p:nvSpPr>
          <p:cNvPr id="13" name="Text 11"/>
          <p:cNvSpPr/>
          <p:nvPr/>
        </p:nvSpPr>
        <p:spPr>
          <a:xfrm>
            <a:off x="594360" y="4219956"/>
            <a:ext cx="38404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1143000" y="4160520"/>
            <a:ext cx="10424160" cy="384048"/>
          </a:xfrm>
          <a:prstGeom prst="rect">
            <a:avLst/>
          </a:prstGeom>
          <a:noFill/>
          <a:ln/>
        </p:spPr>
        <p:txBody>
          <a:bodyPr wrap="square" lIns="0" tIns="0" rIns="0" bIns="0" rtlCol="0" anchor="ctr"/>
          <a:lstStyle/>
          <a:p>
            <a:pPr indent="0" marL="0">
              <a:buNone/>
            </a:pPr>
            <a:r>
              <a:rPr lang="en-US" sz="1700" b="1" dirty="0">
                <a:solidFill>
                  <a:srgbClr val="0B0B0B"/>
                </a:solidFill>
                <a:latin typeface="Calibri" pitchFamily="34" charset="0"/>
                <a:ea typeface="Calibri" pitchFamily="34" charset="-122"/>
                <a:cs typeface="Calibri" pitchFamily="34" charset="-120"/>
              </a:rPr>
              <a:t>Criticality   </a:t>
            </a:r>
            <a:pPr indent="0" marL="0">
              <a:buNone/>
            </a:pPr>
            <a:r>
              <a:rPr lang="en-US" sz="1400" b="1" dirty="0">
                <a:solidFill>
                  <a:srgbClr val="1BAF7A"/>
                </a:solidFill>
                <a:latin typeface="Calibri" pitchFamily="34" charset="0"/>
                <a:ea typeface="Calibri" pitchFamily="34" charset="-122"/>
                <a:cs typeface="Calibri" pitchFamily="34" charset="-120"/>
              </a:rPr>
              <a:t>Does it hurt when cut?</a:t>
            </a:r>
            <a:endParaRPr lang="en-US" sz="1700" dirty="0"/>
          </a:p>
        </p:txBody>
      </p:sp>
      <p:sp>
        <p:nvSpPr>
          <p:cNvPr id="15" name="Text 13"/>
          <p:cNvSpPr/>
          <p:nvPr/>
        </p:nvSpPr>
        <p:spPr>
          <a:xfrm>
            <a:off x="1143000" y="4562856"/>
            <a:ext cx="10424160" cy="777240"/>
          </a:xfrm>
          <a:prstGeom prst="rect">
            <a:avLst/>
          </a:prstGeom>
          <a:noFill/>
          <a:ln/>
        </p:spPr>
        <p:txBody>
          <a:bodyPr wrap="square" lIns="0" tIns="0" rIns="0" bIns="0" rtlCol="0" anchor="ctr"/>
          <a:lstStyle/>
          <a:p>
            <a:pPr indent="0" marL="0">
              <a:lnSpc>
                <a:spcPct val="115000"/>
              </a:lnSpc>
              <a:buNone/>
            </a:pPr>
            <a:r>
              <a:rPr lang="en-US" sz="1300" dirty="0">
                <a:solidFill>
                  <a:srgbClr val="52514E"/>
                </a:solidFill>
                <a:latin typeface="Calibri" pitchFamily="34" charset="0"/>
                <a:ea typeface="Calibri" pitchFamily="34" charset="-122"/>
                <a:cs typeface="Calibri" pitchFamily="34" charset="-120"/>
              </a:rPr>
              <a:t>Imported: USGS supply-risk scores (Nassar &amp; Fortier 2021) plus China's production share at the stage actually restricted (DOE 2022; USGS MCS 2023; SCRREEN 2023). All numbers were published by others before these controls existed, which closes off any tuning accusation.</a:t>
            </a:r>
            <a:endParaRPr lang="en-US" sz="1300" dirty="0"/>
          </a:p>
        </p:txBody>
      </p:sp>
      <p:sp>
        <p:nvSpPr>
          <p:cNvPr id="16" name="Shape 14"/>
          <p:cNvSpPr/>
          <p:nvPr/>
        </p:nvSpPr>
        <p:spPr>
          <a:xfrm>
            <a:off x="594360" y="5623560"/>
            <a:ext cx="10972800" cy="777240"/>
          </a:xfrm>
          <a:prstGeom prst="roundRect">
            <a:avLst>
              <a:gd name="adj" fmla="val 9412"/>
            </a:avLst>
          </a:prstGeom>
          <a:solidFill>
            <a:srgbClr val="F4F6FA"/>
          </a:solidFill>
          <a:ln/>
        </p:spPr>
      </p:sp>
      <p:sp>
        <p:nvSpPr>
          <p:cNvPr id="17" name="Text 15"/>
          <p:cNvSpPr/>
          <p:nvPr/>
        </p:nvSpPr>
        <p:spPr>
          <a:xfrm>
            <a:off x="777240" y="5742432"/>
            <a:ext cx="10698480" cy="548640"/>
          </a:xfrm>
          <a:prstGeom prst="rect">
            <a:avLst/>
          </a:prstGeom>
          <a:noFill/>
          <a:ln/>
        </p:spPr>
        <p:txBody>
          <a:bodyPr wrap="square" lIns="0" tIns="0" rIns="0" bIns="0" rtlCol="0" anchor="ctr"/>
          <a:lstStyle/>
          <a:p>
            <a:pPr indent="0" marL="0">
              <a:buNone/>
            </a:pPr>
            <a:r>
              <a:rPr lang="en-US" sz="1300" b="1" dirty="0">
                <a:solidFill>
                  <a:srgbClr val="0B0B0B"/>
                </a:solidFill>
                <a:latin typeface="Calibri" pitchFamily="34" charset="0"/>
                <a:ea typeface="Calibri" pitchFamily="34" charset="-122"/>
                <a:cs typeface="Calibri" pitchFamily="34" charset="-120"/>
              </a:rPr>
              <a:t>Two formulas:  </a:t>
            </a:r>
            <a:pPr indent="0" marL="0">
              <a:buNone/>
            </a:pPr>
            <a:r>
              <a:rPr lang="en-US" sz="1300" dirty="0">
                <a:solidFill>
                  <a:srgbClr val="52514E"/>
                </a:solidFill>
                <a:latin typeface="Calibri" pitchFamily="34" charset="0"/>
                <a:ea typeface="Calibri" pitchFamily="34" charset="-122"/>
                <a:cs typeface="Calibri" pitchFamily="34" charset="-120"/>
              </a:rPr>
              <a:t>latent power (stock) = criticality × invisibility, the cards asleep in the dark.  Awakening intensity (flow) = criticality × pre-event unpreparedness, how much it hurts when a card is played.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74320"/>
          </a:xfrm>
          <a:prstGeom prst="rect">
            <a:avLst/>
          </a:prstGeom>
          <a:noFill/>
          <a:ln/>
        </p:spPr>
        <p:txBody>
          <a:bodyPr wrap="square" lIns="0" tIns="0" rIns="0" bIns="0" rtlCol="0" anchor="ctr"/>
          <a:lstStyle/>
          <a:p>
            <a:pPr indent="0" marL="0">
              <a:buNone/>
            </a:pPr>
            <a:r>
              <a:rPr lang="en-US" sz="1200" b="1" spc="200" kern="0" dirty="0">
                <a:solidFill>
                  <a:srgbClr val="2A78D6"/>
                </a:solidFill>
                <a:latin typeface="Calibri" pitchFamily="34" charset="0"/>
                <a:ea typeface="Calibri" pitchFamily="34" charset="-122"/>
                <a:cs typeface="Calibri" pitchFamily="34" charset="-120"/>
              </a:rPr>
              <a:t>FRAMEWORK · VISIBILITY × CRITICALITY</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The map: the hunting ground is the top-left quadrant</a:t>
            </a:r>
            <a:endParaRPr lang="en-US" sz="2800" dirty="0"/>
          </a:p>
        </p:txBody>
      </p:sp>
      <p:pic>
        <p:nvPicPr>
          <p:cNvPr id="4" name="Image 0" descr="img/fig_quad.png">    </p:cNvPr>
          <p:cNvPicPr>
            <a:picLocks noChangeAspect="1"/>
          </p:cNvPicPr>
          <p:nvPr/>
        </p:nvPicPr>
        <p:blipFill>
          <a:blip r:embed="rId1"/>
          <a:stretch>
            <a:fillRect/>
          </a:stretch>
        </p:blipFill>
        <p:spPr>
          <a:xfrm>
            <a:off x="790641" y="1325880"/>
            <a:ext cx="6739759" cy="5212080"/>
          </a:xfrm>
          <a:prstGeom prst="rect">
            <a:avLst/>
          </a:prstGeom>
        </p:spPr>
      </p:pic>
      <p:sp>
        <p:nvSpPr>
          <p:cNvPr id="5" name="Text 2"/>
          <p:cNvSpPr/>
          <p:nvPr/>
        </p:nvSpPr>
        <p:spPr>
          <a:xfrm>
            <a:off x="8001000" y="1554480"/>
            <a:ext cx="3657600" cy="4480560"/>
          </a:xfrm>
          <a:prstGeom prst="rect">
            <a:avLst/>
          </a:prstGeom>
          <a:noFill/>
          <a:ln/>
        </p:spPr>
        <p:txBody>
          <a:bodyPr wrap="square" lIns="0" tIns="0" rIns="0" bIns="0" rtlCol="0" anchor="ctr"/>
          <a:lstStyle/>
          <a:p>
            <a:pPr indent="0" marL="0">
              <a:lnSpc>
                <a:spcPct val="120000"/>
              </a:lnSpc>
              <a:spcAft>
                <a:spcPts val="1000"/>
              </a:spcAft>
              <a:buNone/>
            </a:pPr>
            <a:r>
              <a:rPr lang="en-US" sz="1250" b="1" dirty="0">
                <a:solidFill>
                  <a:srgbClr val="EB6834"/>
                </a:solidFill>
                <a:latin typeface="Calibri" pitchFamily="34" charset="0"/>
                <a:ea typeface="Calibri" pitchFamily="34" charset="-122"/>
                <a:cs typeface="Calibri" pitchFamily="34" charset="-120"/>
              </a:rPr>
              <a:t>1 · Latent zone: </a:t>
            </a:r>
            <a:pPr indent="0" marL="0">
              <a:lnSpc>
                <a:spcPct val="120000"/>
              </a:lnSpc>
              <a:spcAft>
                <a:spcPts val="1000"/>
              </a:spcAft>
              <a:buNone/>
            </a:pPr>
            <a:r>
              <a:rPr lang="en-US" sz="1250" dirty="0">
                <a:solidFill>
                  <a:srgbClr val="52514E"/>
                </a:solidFill>
                <a:latin typeface="Calibri" pitchFamily="34" charset="0"/>
                <a:ea typeface="Calibri" pitchFamily="34" charset="-122"/>
                <a:cs typeface="Calibri" pitchFamily="34" charset="-120"/>
              </a:rPr>
              <a:t>big cards nobody watches. The hunting ground: heavy rare earths, bismuth, germanium, tellurium, indium.
</a:t>
            </a:r>
            <a:endParaRPr lang="en-US" sz="1250" dirty="0"/>
          </a:p>
          <a:p>
            <a:pPr indent="0" marL="0">
              <a:lnSpc>
                <a:spcPct val="120000"/>
              </a:lnSpc>
              <a:spcAft>
                <a:spcPts val="1000"/>
              </a:spcAft>
              <a:buNone/>
            </a:pPr>
            <a:r>
              <a:rPr lang="en-US" sz="1250" b="1" dirty="0">
                <a:solidFill>
                  <a:srgbClr val="2A78D6"/>
                </a:solidFill>
                <a:latin typeface="Calibri" pitchFamily="34" charset="0"/>
                <a:ea typeface="Calibri" pitchFamily="34" charset="-122"/>
                <a:cs typeface="Calibri" pitchFamily="34" charset="-120"/>
              </a:rPr>
              <a:t>2 · Landmark zone: </a:t>
            </a:r>
            <a:pPr indent="0" marL="0">
              <a:lnSpc>
                <a:spcPct val="120000"/>
              </a:lnSpc>
              <a:spcAft>
                <a:spcPts val="1000"/>
              </a:spcAft>
              <a:buNone/>
            </a:pPr>
            <a:r>
              <a:rPr lang="en-US" sz="1250" dirty="0">
                <a:solidFill>
                  <a:srgbClr val="52514E"/>
                </a:solidFill>
                <a:latin typeface="Calibri" pitchFamily="34" charset="0"/>
                <a:ea typeface="Calibri" pitchFamily="34" charset="-122"/>
                <a:cs typeface="Calibri" pitchFamily="34" charset="-120"/>
              </a:rPr>
              <a:t>big cards everyone watches, so no information advantage: lithium, cobalt, magnesium.
</a:t>
            </a:r>
            <a:endParaRPr lang="en-US" sz="1250" dirty="0"/>
          </a:p>
          <a:p>
            <a:pPr indent="0" marL="0">
              <a:lnSpc>
                <a:spcPct val="120000"/>
              </a:lnSpc>
              <a:spcAft>
                <a:spcPts val="1000"/>
              </a:spcAft>
              <a:buNone/>
            </a:pPr>
            <a:r>
              <a:rPr lang="en-US" sz="1250" b="1" dirty="0">
                <a:solidFill>
                  <a:srgbClr val="0B0B0B"/>
                </a:solidFill>
                <a:latin typeface="Calibri" pitchFamily="34" charset="0"/>
                <a:ea typeface="Calibri" pitchFamily="34" charset="-122"/>
                <a:cs typeface="Calibri" pitchFamily="34" charset="-120"/>
              </a:rPr>
              <a:t>3 · Bulk celebrities: </a:t>
            </a:r>
            <a:pPr indent="0" marL="0">
              <a:lnSpc>
                <a:spcPct val="120000"/>
              </a:lnSpc>
              <a:spcAft>
                <a:spcPts val="1000"/>
              </a:spcAft>
              <a:buNone/>
            </a:pPr>
            <a:r>
              <a:rPr lang="en-US" sz="1250" dirty="0">
                <a:solidFill>
                  <a:srgbClr val="52514E"/>
                </a:solidFill>
                <a:latin typeface="Calibri" pitchFamily="34" charset="0"/>
                <a:ea typeface="Calibri" pitchFamily="34" charset="-122"/>
                <a:cs typeface="Calibri" pitchFamily="34" charset="-120"/>
              </a:rPr>
              <a:t>loud but not lethal: gold, copper.
</a:t>
            </a:r>
            <a:endParaRPr lang="en-US" sz="1250" dirty="0"/>
          </a:p>
          <a:p>
            <a:pPr indent="0" marL="0">
              <a:lnSpc>
                <a:spcPct val="120000"/>
              </a:lnSpc>
              <a:spcAft>
                <a:spcPts val="1000"/>
              </a:spcAft>
              <a:buNone/>
            </a:pPr>
            <a:r>
              <a:rPr lang="en-US" sz="1250" b="1" dirty="0">
                <a:solidFill>
                  <a:srgbClr val="898781"/>
                </a:solidFill>
                <a:latin typeface="Calibri" pitchFamily="34" charset="0"/>
                <a:ea typeface="Calibri" pitchFamily="34" charset="-122"/>
                <a:cs typeface="Calibri" pitchFamily="34" charset="-120"/>
              </a:rPr>
              <a:t>4 · Dust corner: </a:t>
            </a:r>
            <a:pPr indent="0" marL="0">
              <a:lnSpc>
                <a:spcPct val="120000"/>
              </a:lnSpc>
              <a:spcAft>
                <a:spcPts val="1000"/>
              </a:spcAft>
              <a:buNone/>
            </a:pPr>
            <a:r>
              <a:rPr lang="en-US" sz="1250" dirty="0">
                <a:solidFill>
                  <a:srgbClr val="52514E"/>
                </a:solidFill>
                <a:latin typeface="Calibri" pitchFamily="34" charset="0"/>
                <a:ea typeface="Calibri" pitchFamily="34" charset="-122"/>
                <a:cs typeface="Calibri" pitchFamily="34" charset="-120"/>
              </a:rPr>
              <a:t>dark and harmless. The false-positive trap (thallium, kyanite); only the criticality gauge separates it from the latent zone.</a:t>
            </a:r>
            <a:endParaRPr lang="en-US" sz="1250" dirty="0"/>
          </a:p>
        </p:txBody>
      </p:sp>
      <p:sp>
        <p:nvSpPr>
          <p:cNvPr id="6" name="Text 3"/>
          <p:cNvSpPr/>
          <p:nvPr/>
        </p:nvSpPr>
        <p:spPr>
          <a:xfrm>
            <a:off x="8001000" y="6172200"/>
            <a:ext cx="3657600" cy="457200"/>
          </a:xfrm>
          <a:prstGeom prst="rect">
            <a:avLst/>
          </a:prstGeom>
          <a:noFill/>
          <a:ln/>
        </p:spPr>
        <p:txBody>
          <a:bodyPr wrap="square" lIns="0" tIns="0" rIns="0" bIns="0" rtlCol="0" anchor="ctr"/>
          <a:lstStyle/>
          <a:p>
            <a:pPr indent="0" marL="0">
              <a:buNone/>
            </a:pPr>
            <a:r>
              <a:rPr lang="en-US" sz="850" dirty="0">
                <a:solidFill>
                  <a:srgbClr val="898781"/>
                </a:solidFill>
                <a:latin typeface="Calibri" pitchFamily="34" charset="0"/>
                <a:ea typeface="Calibri" pitchFamily="34" charset="-122"/>
                <a:cs typeface="Calibri" pitchFamily="34" charset="-120"/>
              </a:rPr>
              <a:t>Data: Media Cloud news counts; USGS 2021 supply-risk scores (Nassar &amp; Fortier 2021); control status from MOFCOM announcements.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74320"/>
          </a:xfrm>
          <a:prstGeom prst="rect">
            <a:avLst/>
          </a:prstGeom>
          <a:noFill/>
          <a:ln/>
        </p:spPr>
        <p:txBody>
          <a:bodyPr wrap="square" lIns="0" tIns="0" rIns="0" bIns="0" rtlCol="0" anchor="ctr"/>
          <a:lstStyle/>
          <a:p>
            <a:pPr indent="0" marL="0">
              <a:buNone/>
            </a:pPr>
            <a:r>
              <a:rPr lang="en-US" sz="1200" b="1" spc="200" kern="0" dirty="0">
                <a:solidFill>
                  <a:srgbClr val="2A78D6"/>
                </a:solidFill>
                <a:latin typeface="Calibri" pitchFamily="34" charset="0"/>
                <a:ea typeface="Calibri" pitchFamily="34" charset="-122"/>
                <a:cs typeface="Calibri" pitchFamily="34" charset="-120"/>
              </a:rPr>
              <a:t>DESIGN OVERVIEW</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The design: one mechanism, one map, two tests</a:t>
            </a:r>
            <a:endParaRPr lang="en-US" sz="2800" dirty="0"/>
          </a:p>
        </p:txBody>
      </p:sp>
      <p:sp>
        <p:nvSpPr>
          <p:cNvPr id="4" name="Shape 2"/>
          <p:cNvSpPr/>
          <p:nvPr/>
        </p:nvSpPr>
        <p:spPr>
          <a:xfrm>
            <a:off x="548640" y="1600200"/>
            <a:ext cx="3520440" cy="3017520"/>
          </a:xfrm>
          <a:prstGeom prst="roundRect">
            <a:avLst>
              <a:gd name="adj" fmla="val 3030"/>
            </a:avLst>
          </a:prstGeom>
          <a:solidFill>
            <a:srgbClr val="F4F6FA"/>
          </a:solidFill>
          <a:ln/>
        </p:spPr>
      </p:sp>
      <p:sp>
        <p:nvSpPr>
          <p:cNvPr id="5" name="Text 3"/>
          <p:cNvSpPr/>
          <p:nvPr/>
        </p:nvSpPr>
        <p:spPr>
          <a:xfrm>
            <a:off x="777240" y="1828800"/>
            <a:ext cx="3108960" cy="457200"/>
          </a:xfrm>
          <a:prstGeom prst="rect">
            <a:avLst/>
          </a:prstGeom>
          <a:noFill/>
          <a:ln/>
        </p:spPr>
        <p:txBody>
          <a:bodyPr wrap="square" lIns="0" tIns="0" rIns="0" bIns="0" rtlCol="0" anchor="ctr"/>
          <a:lstStyle/>
          <a:p>
            <a:pPr indent="0" marL="0">
              <a:buNone/>
            </a:pPr>
            <a:r>
              <a:rPr lang="en-US" sz="1900" b="1" dirty="0">
                <a:solidFill>
                  <a:srgbClr val="2A78D6"/>
                </a:solidFill>
                <a:latin typeface="Calibri" pitchFamily="34" charset="0"/>
                <a:ea typeface="Calibri" pitchFamily="34" charset="-122"/>
                <a:cs typeface="Calibri" pitchFamily="34" charset="-120"/>
              </a:rPr>
              <a:t>H1 · Mechanism</a:t>
            </a:r>
            <a:endParaRPr lang="en-US" sz="1900" dirty="0"/>
          </a:p>
        </p:txBody>
      </p:sp>
      <p:sp>
        <p:nvSpPr>
          <p:cNvPr id="6" name="Text 4"/>
          <p:cNvSpPr/>
          <p:nvPr/>
        </p:nvSpPr>
        <p:spPr>
          <a:xfrm>
            <a:off x="777240" y="2331720"/>
            <a:ext cx="3108960" cy="502920"/>
          </a:xfrm>
          <a:prstGeom prst="rect">
            <a:avLst/>
          </a:prstGeom>
          <a:noFill/>
          <a:ln/>
        </p:spPr>
        <p:txBody>
          <a:bodyPr wrap="square" lIns="0" tIns="0" rIns="0" bIns="0" rtlCol="0" anchor="ctr"/>
          <a:lstStyle/>
          <a:p>
            <a:pPr indent="0" marL="0">
              <a:buNone/>
            </a:pPr>
            <a:r>
              <a:rPr lang="en-US" sz="1300" b="1" dirty="0">
                <a:solidFill>
                  <a:srgbClr val="0B0B0B"/>
                </a:solidFill>
                <a:latin typeface="Calibri" pitchFamily="34" charset="0"/>
                <a:ea typeface="Calibri" pitchFamily="34" charset="-122"/>
                <a:cs typeface="Calibri" pitchFamily="34" charset="-120"/>
              </a:rPr>
              <a:t>Why does the latent zone exist?</a:t>
            </a:r>
            <a:endParaRPr lang="en-US" sz="1300" dirty="0"/>
          </a:p>
        </p:txBody>
      </p:sp>
      <p:sp>
        <p:nvSpPr>
          <p:cNvPr id="7" name="Text 5"/>
          <p:cNvSpPr/>
          <p:nvPr/>
        </p:nvSpPr>
        <p:spPr>
          <a:xfrm>
            <a:off x="777240" y="2880360"/>
            <a:ext cx="3108960" cy="1600200"/>
          </a:xfrm>
          <a:prstGeom prst="rect">
            <a:avLst/>
          </a:prstGeom>
          <a:noFill/>
          <a:ln/>
        </p:spPr>
        <p:txBody>
          <a:bodyPr wrap="square" lIns="0" tIns="0" rIns="0" bIns="0" rtlCol="0" anchor="ctr"/>
          <a:lstStyle/>
          <a:p>
            <a:pPr indent="0" marL="0">
              <a:lnSpc>
                <a:spcPct val="120000"/>
              </a:lnSpc>
              <a:buNone/>
            </a:pPr>
            <a:r>
              <a:rPr lang="en-US" sz="1200" dirty="0">
                <a:solidFill>
                  <a:srgbClr val="52514E"/>
                </a:solidFill>
                <a:latin typeface="Calibri" pitchFamily="34" charset="0"/>
                <a:ea typeface="Calibri" pitchFamily="34" charset="-122"/>
                <a:cs typeface="Calibri" pitchFamily="34" charset="-120"/>
              </a:rPr>
              <a:t>A deep case of gallium riding alumina: sedimentation, the capacity ratchet, and a 44-plant census. Output: Figures 1 and 2.</a:t>
            </a:r>
            <a:endParaRPr lang="en-US" sz="1200" dirty="0"/>
          </a:p>
        </p:txBody>
      </p:sp>
      <p:sp>
        <p:nvSpPr>
          <p:cNvPr id="8" name="Text 6"/>
          <p:cNvSpPr/>
          <p:nvPr/>
        </p:nvSpPr>
        <p:spPr>
          <a:xfrm>
            <a:off x="4069080" y="2834640"/>
            <a:ext cx="411480" cy="548640"/>
          </a:xfrm>
          <a:prstGeom prst="rect">
            <a:avLst/>
          </a:prstGeom>
          <a:noFill/>
          <a:ln/>
        </p:spPr>
        <p:txBody>
          <a:bodyPr wrap="square" lIns="0" tIns="0" rIns="0" bIns="0" rtlCol="0" anchor="ctr"/>
          <a:lstStyle/>
          <a:p>
            <a:pPr algn="ctr" indent="0" marL="0">
              <a:buNone/>
            </a:pPr>
            <a:r>
              <a:rPr lang="en-US" sz="2600" b="1" dirty="0">
                <a:solidFill>
                  <a:srgbClr val="898781"/>
                </a:solidFill>
                <a:latin typeface="Calibri" pitchFamily="34" charset="0"/>
                <a:ea typeface="Calibri" pitchFamily="34" charset="-122"/>
                <a:cs typeface="Calibri" pitchFamily="34" charset="-120"/>
              </a:rPr>
              <a:t>→</a:t>
            </a:r>
            <a:endParaRPr lang="en-US" sz="2600" dirty="0"/>
          </a:p>
        </p:txBody>
      </p:sp>
      <p:sp>
        <p:nvSpPr>
          <p:cNvPr id="9" name="Shape 7"/>
          <p:cNvSpPr/>
          <p:nvPr/>
        </p:nvSpPr>
        <p:spPr>
          <a:xfrm>
            <a:off x="4480560" y="1600200"/>
            <a:ext cx="3520440" cy="3017520"/>
          </a:xfrm>
          <a:prstGeom prst="roundRect">
            <a:avLst>
              <a:gd name="adj" fmla="val 3030"/>
            </a:avLst>
          </a:prstGeom>
          <a:solidFill>
            <a:srgbClr val="F4F6FA"/>
          </a:solidFill>
          <a:ln/>
        </p:spPr>
      </p:sp>
      <p:sp>
        <p:nvSpPr>
          <p:cNvPr id="10" name="Text 8"/>
          <p:cNvSpPr/>
          <p:nvPr/>
        </p:nvSpPr>
        <p:spPr>
          <a:xfrm>
            <a:off x="4709160" y="1828800"/>
            <a:ext cx="3108960" cy="457200"/>
          </a:xfrm>
          <a:prstGeom prst="rect">
            <a:avLst/>
          </a:prstGeom>
          <a:noFill/>
          <a:ln/>
        </p:spPr>
        <p:txBody>
          <a:bodyPr wrap="square" lIns="0" tIns="0" rIns="0" bIns="0" rtlCol="0" anchor="ctr"/>
          <a:lstStyle/>
          <a:p>
            <a:pPr indent="0" marL="0">
              <a:buNone/>
            </a:pPr>
            <a:r>
              <a:rPr lang="en-US" sz="1900" b="1" dirty="0">
                <a:solidFill>
                  <a:srgbClr val="EB6834"/>
                </a:solidFill>
                <a:latin typeface="Calibri" pitchFamily="34" charset="0"/>
                <a:ea typeface="Calibri" pitchFamily="34" charset="-122"/>
                <a:cs typeface="Calibri" pitchFamily="34" charset="-120"/>
              </a:rPr>
              <a:t>H2a · Map test</a:t>
            </a:r>
            <a:endParaRPr lang="en-US" sz="1900" dirty="0"/>
          </a:p>
        </p:txBody>
      </p:sp>
      <p:sp>
        <p:nvSpPr>
          <p:cNvPr id="11" name="Text 9"/>
          <p:cNvSpPr/>
          <p:nvPr/>
        </p:nvSpPr>
        <p:spPr>
          <a:xfrm>
            <a:off x="4709160" y="2331720"/>
            <a:ext cx="3108960" cy="502920"/>
          </a:xfrm>
          <a:prstGeom prst="rect">
            <a:avLst/>
          </a:prstGeom>
          <a:noFill/>
          <a:ln/>
        </p:spPr>
        <p:txBody>
          <a:bodyPr wrap="square" lIns="0" tIns="0" rIns="0" bIns="0" rtlCol="0" anchor="ctr"/>
          <a:lstStyle/>
          <a:p>
            <a:pPr indent="0" marL="0">
              <a:buNone/>
            </a:pPr>
            <a:r>
              <a:rPr lang="en-US" sz="1300" b="1" dirty="0">
                <a:solidFill>
                  <a:srgbClr val="0B0B0B"/>
                </a:solidFill>
                <a:latin typeface="Calibri" pitchFamily="34" charset="0"/>
                <a:ea typeface="Calibri" pitchFamily="34" charset="-122"/>
                <a:cs typeface="Calibri" pitchFamily="34" charset="-120"/>
              </a:rPr>
              <a:t>Does the assessment hold up against reality?</a:t>
            </a:r>
            <a:endParaRPr lang="en-US" sz="1300" dirty="0"/>
          </a:p>
        </p:txBody>
      </p:sp>
      <p:sp>
        <p:nvSpPr>
          <p:cNvPr id="12" name="Text 10"/>
          <p:cNvSpPr/>
          <p:nvPr/>
        </p:nvSpPr>
        <p:spPr>
          <a:xfrm>
            <a:off x="4709160" y="2880360"/>
            <a:ext cx="3108960" cy="1600200"/>
          </a:xfrm>
          <a:prstGeom prst="rect">
            <a:avLst/>
          </a:prstGeom>
          <a:noFill/>
          <a:ln/>
        </p:spPr>
        <p:txBody>
          <a:bodyPr wrap="square" lIns="0" tIns="0" rIns="0" bIns="0" rtlCol="0" anchor="ctr"/>
          <a:lstStyle/>
          <a:p>
            <a:pPr indent="0" marL="0">
              <a:lnSpc>
                <a:spcPct val="120000"/>
              </a:lnSpc>
              <a:buNone/>
            </a:pPr>
            <a:r>
              <a:rPr lang="en-US" sz="1200" dirty="0">
                <a:solidFill>
                  <a:srgbClr val="52514E"/>
                </a:solidFill>
                <a:latin typeface="Calibri" pitchFamily="34" charset="0"/>
                <a:ea typeface="Calibri" pitchFamily="34" charset="-122"/>
                <a:cs typeface="Calibri" pitchFamily="34" charset="-120"/>
              </a:rPr>
              <a:t>The framework scores every commodity for latent power. Seven export-control rounds (2023–25, the complete set) serve as grading events — the moments the card-holder shows its hand. The aim is to validate the chokepoint assessment, not to forecast policy.</a:t>
            </a:r>
            <a:endParaRPr lang="en-US" sz="1200" dirty="0"/>
          </a:p>
        </p:txBody>
      </p:sp>
      <p:sp>
        <p:nvSpPr>
          <p:cNvPr id="13" name="Text 11"/>
          <p:cNvSpPr/>
          <p:nvPr/>
        </p:nvSpPr>
        <p:spPr>
          <a:xfrm>
            <a:off x="8001000" y="2834640"/>
            <a:ext cx="411480" cy="548640"/>
          </a:xfrm>
          <a:prstGeom prst="rect">
            <a:avLst/>
          </a:prstGeom>
          <a:noFill/>
          <a:ln/>
        </p:spPr>
        <p:txBody>
          <a:bodyPr wrap="square" lIns="0" tIns="0" rIns="0" bIns="0" rtlCol="0" anchor="ctr"/>
          <a:lstStyle/>
          <a:p>
            <a:pPr algn="ctr" indent="0" marL="0">
              <a:buNone/>
            </a:pPr>
            <a:r>
              <a:rPr lang="en-US" sz="2600" b="1" dirty="0">
                <a:solidFill>
                  <a:srgbClr val="898781"/>
                </a:solidFill>
                <a:latin typeface="Calibri" pitchFamily="34" charset="0"/>
                <a:ea typeface="Calibri" pitchFamily="34" charset="-122"/>
                <a:cs typeface="Calibri" pitchFamily="34" charset="-120"/>
              </a:rPr>
              <a:t>→</a:t>
            </a:r>
            <a:endParaRPr lang="en-US" sz="2600" dirty="0"/>
          </a:p>
        </p:txBody>
      </p:sp>
      <p:sp>
        <p:nvSpPr>
          <p:cNvPr id="14" name="Shape 12"/>
          <p:cNvSpPr/>
          <p:nvPr/>
        </p:nvSpPr>
        <p:spPr>
          <a:xfrm>
            <a:off x="8412480" y="1600200"/>
            <a:ext cx="3520440" cy="3017520"/>
          </a:xfrm>
          <a:prstGeom prst="roundRect">
            <a:avLst>
              <a:gd name="adj" fmla="val 3030"/>
            </a:avLst>
          </a:prstGeom>
          <a:solidFill>
            <a:srgbClr val="F4F6FA"/>
          </a:solidFill>
          <a:ln/>
        </p:spPr>
      </p:sp>
      <p:sp>
        <p:nvSpPr>
          <p:cNvPr id="15" name="Text 13"/>
          <p:cNvSpPr/>
          <p:nvPr/>
        </p:nvSpPr>
        <p:spPr>
          <a:xfrm>
            <a:off x="8641080" y="1828800"/>
            <a:ext cx="3108960" cy="457200"/>
          </a:xfrm>
          <a:prstGeom prst="rect">
            <a:avLst/>
          </a:prstGeom>
          <a:noFill/>
          <a:ln/>
        </p:spPr>
        <p:txBody>
          <a:bodyPr wrap="square" lIns="0" tIns="0" rIns="0" bIns="0" rtlCol="0" anchor="ctr"/>
          <a:lstStyle/>
          <a:p>
            <a:pPr indent="0" marL="0">
              <a:buNone/>
            </a:pPr>
            <a:r>
              <a:rPr lang="en-US" sz="1900" b="1" dirty="0">
                <a:solidFill>
                  <a:srgbClr val="1BAF7A"/>
                </a:solidFill>
                <a:latin typeface="Calibri" pitchFamily="34" charset="0"/>
                <a:ea typeface="Calibri" pitchFamily="34" charset="-122"/>
                <a:cs typeface="Calibri" pitchFamily="34" charset="-120"/>
              </a:rPr>
              <a:t>H2b · Awakening test</a:t>
            </a:r>
            <a:endParaRPr lang="en-US" sz="1900" dirty="0"/>
          </a:p>
        </p:txBody>
      </p:sp>
      <p:sp>
        <p:nvSpPr>
          <p:cNvPr id="16" name="Text 14"/>
          <p:cNvSpPr/>
          <p:nvPr/>
        </p:nvSpPr>
        <p:spPr>
          <a:xfrm>
            <a:off x="8641080" y="2331720"/>
            <a:ext cx="3108960" cy="502920"/>
          </a:xfrm>
          <a:prstGeom prst="rect">
            <a:avLst/>
          </a:prstGeom>
          <a:noFill/>
          <a:ln/>
        </p:spPr>
        <p:txBody>
          <a:bodyPr wrap="square" lIns="0" tIns="0" rIns="0" bIns="0" rtlCol="0" anchor="ctr"/>
          <a:lstStyle/>
          <a:p>
            <a:pPr indent="0" marL="0">
              <a:buNone/>
            </a:pPr>
            <a:r>
              <a:rPr lang="en-US" sz="1300" b="1" dirty="0">
                <a:solidFill>
                  <a:srgbClr val="0B0B0B"/>
                </a:solidFill>
                <a:latin typeface="Calibri" pitchFamily="34" charset="0"/>
                <a:ea typeface="Calibri" pitchFamily="34" charset="-122"/>
                <a:cs typeface="Calibri" pitchFamily="34" charset="-120"/>
              </a:rPr>
              <a:t>Does the intensity formula hold?</a:t>
            </a:r>
            <a:endParaRPr lang="en-US" sz="1300" dirty="0"/>
          </a:p>
        </p:txBody>
      </p:sp>
      <p:sp>
        <p:nvSpPr>
          <p:cNvPr id="17" name="Text 15"/>
          <p:cNvSpPr/>
          <p:nvPr/>
        </p:nvSpPr>
        <p:spPr>
          <a:xfrm>
            <a:off x="8641080" y="2880360"/>
            <a:ext cx="3108960" cy="1600200"/>
          </a:xfrm>
          <a:prstGeom prst="rect">
            <a:avLst/>
          </a:prstGeom>
          <a:noFill/>
          <a:ln/>
        </p:spPr>
        <p:txBody>
          <a:bodyPr wrap="square" lIns="0" tIns="0" rIns="0" bIns="0" rtlCol="0" anchor="ctr"/>
          <a:lstStyle/>
          <a:p>
            <a:pPr indent="0" marL="0">
              <a:lnSpc>
                <a:spcPct val="120000"/>
              </a:lnSpc>
              <a:buNone/>
            </a:pPr>
            <a:r>
              <a:rPr lang="en-US" sz="1200" dirty="0">
                <a:solidFill>
                  <a:srgbClr val="52514E"/>
                </a:solidFill>
                <a:latin typeface="Calibri" pitchFamily="34" charset="0"/>
                <a:ea typeface="Calibri" pitchFamily="34" charset="-122"/>
                <a:cs typeface="Calibri" pitchFamily="34" charset="-120"/>
              </a:rPr>
              <a:t>Among commodities that did get restricted, do the more latent ones hit harder? Three thermometers: attention, stocks, commodity prices.</a:t>
            </a:r>
            <a:endParaRPr lang="en-US" sz="1200" dirty="0"/>
          </a:p>
        </p:txBody>
      </p:sp>
      <p:sp>
        <p:nvSpPr>
          <p:cNvPr id="18" name="Text 16"/>
          <p:cNvSpPr/>
          <p:nvPr/>
        </p:nvSpPr>
        <p:spPr>
          <a:xfrm>
            <a:off x="548640" y="5029200"/>
            <a:ext cx="11064240" cy="868680"/>
          </a:xfrm>
          <a:prstGeom prst="rect">
            <a:avLst/>
          </a:prstGeom>
          <a:noFill/>
          <a:ln/>
        </p:spPr>
        <p:txBody>
          <a:bodyPr wrap="square" lIns="0" tIns="0" rIns="0" bIns="0" rtlCol="0" anchor="ctr"/>
          <a:lstStyle/>
          <a:p>
            <a:pPr indent="0" marL="0">
              <a:lnSpc>
                <a:spcPct val="125000"/>
              </a:lnSpc>
              <a:buNone/>
            </a:pPr>
            <a:r>
              <a:rPr lang="en-US" sz="1400" b="1" dirty="0">
                <a:solidFill>
                  <a:srgbClr val="0B0B0B"/>
                </a:solidFill>
                <a:latin typeface="Calibri" pitchFamily="34" charset="0"/>
                <a:ea typeface="Calibri" pitchFamily="34" charset="-122"/>
                <a:cs typeface="Calibri" pitchFamily="34" charset="-120"/>
              </a:rPr>
              <a:t>How the two tests interlock: </a:t>
            </a:r>
            <a:pPr indent="0" marL="0">
              <a:lnSpc>
                <a:spcPct val="125000"/>
              </a:lnSpc>
              <a:buNone/>
            </a:pPr>
            <a:r>
              <a:rPr lang="en-US" sz="1400" dirty="0">
                <a:solidFill>
                  <a:srgbClr val="52514E"/>
                </a:solidFill>
                <a:latin typeface="Calibri" pitchFamily="34" charset="0"/>
                <a:ea typeface="Calibri" pitchFamily="34" charset="-122"/>
                <a:cs typeface="Calibri" pitchFamily="34" charset="-120"/>
              </a:rPr>
              <a:t>H2a's misses (graphite and molybdenum were restricted without being flagged) land quietly in H2b precisely because they were not latent. Each test digests the other's residuals.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74320"/>
          </a:xfrm>
          <a:prstGeom prst="rect">
            <a:avLst/>
          </a:prstGeom>
          <a:noFill/>
          <a:ln/>
        </p:spPr>
        <p:txBody>
          <a:bodyPr wrap="square" lIns="0" tIns="0" rIns="0" bIns="0" rtlCol="0" anchor="ctr"/>
          <a:lstStyle/>
          <a:p>
            <a:pPr indent="0" marL="0">
              <a:buNone/>
            </a:pPr>
            <a:r>
              <a:rPr lang="en-US" sz="1200" b="1" spc="200" kern="0" dirty="0">
                <a:solidFill>
                  <a:srgbClr val="2A78D6"/>
                </a:solidFill>
                <a:latin typeface="Calibri" pitchFamily="34" charset="0"/>
                <a:ea typeface="Calibri" pitchFamily="34" charset="-122"/>
                <a:cs typeface="Calibri" pitchFamily="34" charset="-120"/>
              </a:rPr>
              <a:t>MECHANISM · WHY THE ZONE EXISTS</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H1 · Sedimentation: capacity is a ratchet, the market only adjusts flow</a:t>
            </a:r>
            <a:endParaRPr lang="en-US" sz="2800" dirty="0"/>
          </a:p>
        </p:txBody>
      </p:sp>
      <p:pic>
        <p:nvPicPr>
          <p:cNvPr id="4" name="Image 0" descr="img/fig1.png">    </p:cNvPr>
          <p:cNvPicPr>
            <a:picLocks noChangeAspect="1"/>
          </p:cNvPicPr>
          <p:nvPr/>
        </p:nvPicPr>
        <p:blipFill>
          <a:blip r:embed="rId1"/>
          <a:stretch>
            <a:fillRect/>
          </a:stretch>
        </p:blipFill>
        <p:spPr>
          <a:xfrm>
            <a:off x="1289373" y="1280160"/>
            <a:ext cx="5193654" cy="5303520"/>
          </a:xfrm>
          <a:prstGeom prst="rect">
            <a:avLst/>
          </a:prstGeom>
        </p:spPr>
      </p:pic>
      <p:sp>
        <p:nvSpPr>
          <p:cNvPr id="5" name="Shape 2"/>
          <p:cNvSpPr/>
          <p:nvPr/>
        </p:nvSpPr>
        <p:spPr>
          <a:xfrm>
            <a:off x="7635240" y="1463040"/>
            <a:ext cx="3931920" cy="1417320"/>
          </a:xfrm>
          <a:prstGeom prst="roundRect">
            <a:avLst>
              <a:gd name="adj" fmla="val 5161"/>
            </a:avLst>
          </a:prstGeom>
          <a:solidFill>
            <a:srgbClr val="F4F6FA"/>
          </a:solidFill>
          <a:ln/>
        </p:spPr>
      </p:sp>
      <p:sp>
        <p:nvSpPr>
          <p:cNvPr id="6" name="Text 3"/>
          <p:cNvSpPr/>
          <p:nvPr/>
        </p:nvSpPr>
        <p:spPr>
          <a:xfrm>
            <a:off x="7772400" y="1572768"/>
            <a:ext cx="3657600" cy="731520"/>
          </a:xfrm>
          <a:prstGeom prst="rect">
            <a:avLst/>
          </a:prstGeom>
          <a:noFill/>
          <a:ln/>
        </p:spPr>
        <p:txBody>
          <a:bodyPr wrap="square" lIns="0" tIns="0" rIns="0" bIns="0" rtlCol="0" anchor="ctr"/>
          <a:lstStyle/>
          <a:p>
            <a:pPr indent="0" marL="0">
              <a:buNone/>
            </a:pPr>
            <a:r>
              <a:rPr lang="en-US" sz="2800" b="1" dirty="0">
                <a:solidFill>
                  <a:srgbClr val="2A78D6"/>
                </a:solidFill>
                <a:latin typeface="Calibri" pitchFamily="34" charset="0"/>
                <a:ea typeface="Calibri" pitchFamily="34" charset="-122"/>
                <a:cs typeface="Calibri" pitchFamily="34" charset="-120"/>
              </a:rPr>
              <a:t>0 declines in 21 yrs</a:t>
            </a:r>
            <a:endParaRPr lang="en-US" sz="2800" dirty="0"/>
          </a:p>
        </p:txBody>
      </p:sp>
      <p:sp>
        <p:nvSpPr>
          <p:cNvPr id="7" name="Text 4"/>
          <p:cNvSpPr/>
          <p:nvPr/>
        </p:nvSpPr>
        <p:spPr>
          <a:xfrm>
            <a:off x="7772400" y="2267712"/>
            <a:ext cx="3657600" cy="5486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times Chinese gallium capacity fell in the USGS record; it holds at 1,000 t and only ever rises</a:t>
            </a:r>
            <a:endParaRPr lang="en-US" sz="1100" dirty="0"/>
          </a:p>
        </p:txBody>
      </p:sp>
      <p:sp>
        <p:nvSpPr>
          <p:cNvPr id="8" name="Shape 5"/>
          <p:cNvSpPr/>
          <p:nvPr/>
        </p:nvSpPr>
        <p:spPr>
          <a:xfrm>
            <a:off x="7635240" y="3017520"/>
            <a:ext cx="3931920" cy="1417320"/>
          </a:xfrm>
          <a:prstGeom prst="roundRect">
            <a:avLst>
              <a:gd name="adj" fmla="val 5161"/>
            </a:avLst>
          </a:prstGeom>
          <a:solidFill>
            <a:srgbClr val="F4F6FA"/>
          </a:solidFill>
          <a:ln/>
        </p:spPr>
      </p:sp>
      <p:sp>
        <p:nvSpPr>
          <p:cNvPr id="9" name="Text 6"/>
          <p:cNvSpPr/>
          <p:nvPr/>
        </p:nvSpPr>
        <p:spPr>
          <a:xfrm>
            <a:off x="7772400" y="3127248"/>
            <a:ext cx="3657600" cy="731520"/>
          </a:xfrm>
          <a:prstGeom prst="rect">
            <a:avLst/>
          </a:prstGeom>
          <a:noFill/>
          <a:ln/>
        </p:spPr>
        <p:txBody>
          <a:bodyPr wrap="square" lIns="0" tIns="0" rIns="0" bIns="0" rtlCol="0" anchor="ctr"/>
          <a:lstStyle/>
          <a:p>
            <a:pPr indent="0" marL="0">
              <a:buNone/>
            </a:pPr>
            <a:r>
              <a:rPr lang="en-US" sz="2800" b="1" dirty="0">
                <a:solidFill>
                  <a:srgbClr val="EB6834"/>
                </a:solidFill>
                <a:latin typeface="Calibri" pitchFamily="34" charset="0"/>
                <a:ea typeface="Calibri" pitchFamily="34" charset="-122"/>
                <a:cs typeface="Calibri" pitchFamily="34" charset="-120"/>
              </a:rPr>
              <a:t>−67% / −61% / 0</a:t>
            </a:r>
            <a:endParaRPr lang="en-US" sz="2800" dirty="0"/>
          </a:p>
        </p:txBody>
      </p:sp>
      <p:sp>
        <p:nvSpPr>
          <p:cNvPr id="10" name="Text 7"/>
          <p:cNvSpPr/>
          <p:nvPr/>
        </p:nvSpPr>
        <p:spPr>
          <a:xfrm>
            <a:off x="7772400" y="3822192"/>
            <a:ext cx="3657600" cy="5486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2011→2016: price collapsed, output was cut, capacity did not move</a:t>
            </a:r>
            <a:endParaRPr lang="en-US" sz="1100" dirty="0"/>
          </a:p>
        </p:txBody>
      </p:sp>
      <p:sp>
        <p:nvSpPr>
          <p:cNvPr id="11" name="Shape 8"/>
          <p:cNvSpPr/>
          <p:nvPr/>
        </p:nvSpPr>
        <p:spPr>
          <a:xfrm>
            <a:off x="7635240" y="4572000"/>
            <a:ext cx="3931920" cy="1417320"/>
          </a:xfrm>
          <a:prstGeom prst="roundRect">
            <a:avLst>
              <a:gd name="adj" fmla="val 5161"/>
            </a:avLst>
          </a:prstGeom>
          <a:solidFill>
            <a:srgbClr val="F4F6FA"/>
          </a:solidFill>
          <a:ln/>
        </p:spPr>
      </p:sp>
      <p:sp>
        <p:nvSpPr>
          <p:cNvPr id="12" name="Text 9"/>
          <p:cNvSpPr/>
          <p:nvPr/>
        </p:nvSpPr>
        <p:spPr>
          <a:xfrm>
            <a:off x="7772400" y="4681728"/>
            <a:ext cx="3657600" cy="731520"/>
          </a:xfrm>
          <a:prstGeom prst="rect">
            <a:avLst/>
          </a:prstGeom>
          <a:noFill/>
          <a:ln/>
        </p:spPr>
        <p:txBody>
          <a:bodyPr wrap="square" lIns="0" tIns="0" rIns="0" bIns="0" rtlCol="0" anchor="ctr"/>
          <a:lstStyle/>
          <a:p>
            <a:pPr indent="0" marL="0">
              <a:buNone/>
            </a:pPr>
            <a:r>
              <a:rPr lang="en-US" sz="2800" b="1" dirty="0">
                <a:solidFill>
                  <a:srgbClr val="1BAF7A"/>
                </a:solidFill>
                <a:latin typeface="Calibri" pitchFamily="34" charset="0"/>
                <a:ea typeface="Calibri" pitchFamily="34" charset="-122"/>
                <a:cs typeface="Calibri" pitchFamily="34" charset="-120"/>
              </a:rPr>
              <a:t>×19</a:t>
            </a:r>
            <a:endParaRPr lang="en-US" sz="2800" dirty="0"/>
          </a:p>
        </p:txBody>
      </p:sp>
      <p:sp>
        <p:nvSpPr>
          <p:cNvPr id="13" name="Text 10"/>
          <p:cNvSpPr/>
          <p:nvPr/>
        </p:nvSpPr>
        <p:spPr>
          <a:xfrm>
            <a:off x="7772400" y="5376672"/>
            <a:ext cx="3657600" cy="5486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growth of the host (alumina) over the same period; gallium capacity rode along and settled</a:t>
            </a:r>
            <a:endParaRPr lang="en-US" sz="1100" dirty="0"/>
          </a:p>
        </p:txBody>
      </p:sp>
      <p:sp>
        <p:nvSpPr>
          <p:cNvPr id="14" name="Text 11"/>
          <p:cNvSpPr/>
          <p:nvPr/>
        </p:nvSpPr>
        <p:spPr>
          <a:xfrm>
            <a:off x="7635240" y="6126480"/>
            <a:ext cx="3931920" cy="548640"/>
          </a:xfrm>
          <a:prstGeom prst="rect">
            <a:avLst/>
          </a:prstGeom>
          <a:noFill/>
          <a:ln/>
        </p:spPr>
        <p:txBody>
          <a:bodyPr wrap="square" lIns="0" tIns="0" rIns="0" bIns="0" rtlCol="0" anchor="ctr"/>
          <a:lstStyle/>
          <a:p>
            <a:pPr indent="0" marL="0">
              <a:buNone/>
            </a:pPr>
            <a:r>
              <a:rPr lang="en-US" sz="850" dirty="0">
                <a:solidFill>
                  <a:srgbClr val="898781"/>
                </a:solidFill>
                <a:latin typeface="Calibri" pitchFamily="34" charset="0"/>
                <a:ea typeface="Calibri" pitchFamily="34" charset="-122"/>
                <a:cs typeface="Calibri" pitchFamily="34" charset="-120"/>
              </a:rPr>
              <a:t>Sources: USGS Minerals Yearbook (gallium chapters 2002–2022) &amp; Mineral Commodity Summaries 2016–2024; production basis Asian Metal/CNIA. Full basis notes inside Figure 1.</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74320"/>
          </a:xfrm>
          <a:prstGeom prst="rect">
            <a:avLst/>
          </a:prstGeom>
          <a:noFill/>
          <a:ln/>
        </p:spPr>
        <p:txBody>
          <a:bodyPr wrap="square" lIns="0" tIns="0" rIns="0" bIns="0" rtlCol="0" anchor="ctr"/>
          <a:lstStyle/>
          <a:p>
            <a:pPr indent="0" marL="0">
              <a:buNone/>
            </a:pPr>
            <a:r>
              <a:rPr lang="en-US" sz="1200" b="1" spc="200" kern="0" dirty="0">
                <a:solidFill>
                  <a:srgbClr val="2A78D6"/>
                </a:solidFill>
                <a:latin typeface="Calibri" pitchFamily="34" charset="0"/>
                <a:ea typeface="Calibri" pitchFamily="34" charset="-122"/>
                <a:cs typeface="Calibri" pitchFamily="34" charset="-120"/>
              </a:rPr>
              <a:t>MECHANISM · 44-PLANT CENSUS, FULL EXTERNAL SAMPLING FRAME</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H1 · Two waves: the circuit is a decision, not a chemical freebie</a:t>
            </a:r>
            <a:endParaRPr lang="en-US" sz="2800" dirty="0"/>
          </a:p>
        </p:txBody>
      </p:sp>
      <p:pic>
        <p:nvPicPr>
          <p:cNvPr id="4" name="Image 0" descr="img/fig2.png">    </p:cNvPr>
          <p:cNvPicPr>
            <a:picLocks noChangeAspect="1"/>
          </p:cNvPicPr>
          <p:nvPr/>
        </p:nvPicPr>
        <p:blipFill>
          <a:blip r:embed="rId1"/>
          <a:stretch>
            <a:fillRect/>
          </a:stretch>
        </p:blipFill>
        <p:spPr>
          <a:xfrm>
            <a:off x="721669" y="1280160"/>
            <a:ext cx="6329063" cy="5303520"/>
          </a:xfrm>
          <a:prstGeom prst="rect">
            <a:avLst/>
          </a:prstGeom>
        </p:spPr>
      </p:pic>
      <p:sp>
        <p:nvSpPr>
          <p:cNvPr id="5" name="Text 2"/>
          <p:cNvSpPr/>
          <p:nvPr/>
        </p:nvSpPr>
        <p:spPr>
          <a:xfrm>
            <a:off x="7589520" y="1463040"/>
            <a:ext cx="4069080" cy="4937760"/>
          </a:xfrm>
          <a:prstGeom prst="rect">
            <a:avLst/>
          </a:prstGeom>
          <a:noFill/>
          <a:ln/>
        </p:spPr>
        <p:txBody>
          <a:bodyPr wrap="square" lIns="0" tIns="0" rIns="0" bIns="0" rtlCol="0" anchor="ctr"/>
          <a:lstStyle/>
          <a:p>
            <a:pPr indent="0" marL="0">
              <a:lnSpc>
                <a:spcPct val="120000"/>
              </a:lnSpc>
              <a:spcAft>
                <a:spcPts val="900"/>
              </a:spcAft>
              <a:buNone/>
            </a:pPr>
            <a:r>
              <a:rPr lang="en-US" sz="1200" b="1" dirty="0">
                <a:solidFill>
                  <a:srgbClr val="2A78D6"/>
                </a:solidFill>
                <a:latin typeface="Calibri" pitchFamily="34" charset="0"/>
                <a:ea typeface="Calibri" pitchFamily="34" charset="-122"/>
                <a:cs typeface="Calibri" pitchFamily="34" charset="-120"/>
              </a:rPr>
              <a:t>Wave 1, ≤2014: </a:t>
            </a:r>
            <a:pPr indent="0" marL="0">
              <a:lnSpc>
                <a:spcPct val="120000"/>
              </a:lnSpc>
              <a:spcAft>
                <a:spcPts val="900"/>
              </a:spcAft>
              <a:buNone/>
            </a:pPr>
            <a:r>
              <a:rPr lang="en-US" sz="1200" dirty="0">
                <a:solidFill>
                  <a:srgbClr val="52514E"/>
                </a:solidFill>
                <a:latin typeface="Calibri" pitchFamily="34" charset="0"/>
                <a:ea typeface="Calibri" pitchFamily="34" charset="-122"/>
                <a:cs typeface="Calibri" pitchFamily="34" charset="-120"/>
              </a:rPr>
              <a:t>fixed what China was holding in July 2023.
</a:t>
            </a:r>
            <a:endParaRPr lang="en-US" sz="1200" dirty="0"/>
          </a:p>
          <a:p>
            <a:pPr indent="0" marL="0">
              <a:lnSpc>
                <a:spcPct val="120000"/>
              </a:lnSpc>
              <a:spcAft>
                <a:spcPts val="900"/>
              </a:spcAft>
              <a:buNone/>
            </a:pPr>
            <a:r>
              <a:rPr lang="en-US" sz="1200" b="1" dirty="0">
                <a:solidFill>
                  <a:srgbClr val="0B0B0B"/>
                </a:solidFill>
                <a:latin typeface="Calibri" pitchFamily="34" charset="0"/>
                <a:ea typeface="Calibri" pitchFamily="34" charset="-122"/>
                <a:cs typeface="Calibri" pitchFamily="34" charset="-120"/>
              </a:rPr>
              <a:t>2015–19 gap: </a:t>
            </a:r>
            <a:pPr indent="0" marL="0">
              <a:lnSpc>
                <a:spcPct val="120000"/>
              </a:lnSpc>
              <a:spcAft>
                <a:spcPts val="900"/>
              </a:spcAft>
              <a:buNone/>
            </a:pPr>
            <a:r>
              <a:rPr lang="en-US" sz="1200" dirty="0">
                <a:solidFill>
                  <a:srgbClr val="52514E"/>
                </a:solidFill>
                <a:latin typeface="Calibri" pitchFamily="34" charset="0"/>
                <a:ea typeface="Calibri" pitchFamily="34" charset="-122"/>
                <a:cs typeface="Calibri" pitchFamily="34" charset="-120"/>
              </a:rPr>
              <a:t>gallium price trough; not a single new line.
</a:t>
            </a:r>
            <a:endParaRPr lang="en-US" sz="1200" dirty="0"/>
          </a:p>
          <a:p>
            <a:pPr indent="0" marL="0">
              <a:lnSpc>
                <a:spcPct val="120000"/>
              </a:lnSpc>
              <a:spcAft>
                <a:spcPts val="900"/>
              </a:spcAft>
              <a:buNone/>
            </a:pPr>
            <a:r>
              <a:rPr lang="en-US" sz="1200" b="1" dirty="0">
                <a:solidFill>
                  <a:srgbClr val="EB6834"/>
                </a:solidFill>
                <a:latin typeface="Calibri" pitchFamily="34" charset="0"/>
                <a:ea typeface="Calibri" pitchFamily="34" charset="-122"/>
                <a:cs typeface="Calibri" pitchFamily="34" charset="-120"/>
              </a:rPr>
              <a:t>Wave 2, ≥2020: </a:t>
            </a:r>
            <a:pPr indent="0" marL="0">
              <a:lnSpc>
                <a:spcPct val="120000"/>
              </a:lnSpc>
              <a:spcAft>
                <a:spcPts val="900"/>
              </a:spcAft>
              <a:buNone/>
            </a:pPr>
            <a:r>
              <a:rPr lang="en-US" sz="1200" dirty="0">
                <a:solidFill>
                  <a:srgbClr val="52514E"/>
                </a:solidFill>
                <a:latin typeface="Calibri" pitchFamily="34" charset="0"/>
                <a:ea typeface="Calibri" pitchFamily="34" charset="-122"/>
                <a:cs typeface="Calibri" pitchFamily="34" charset="-120"/>
              </a:rPr>
              <a:t>prices recovered and the controls lit the map. Reflexive erosion, caught on camera.
</a:t>
            </a:r>
            <a:endParaRPr lang="en-US" sz="1200" dirty="0"/>
          </a:p>
          <a:p>
            <a:pPr indent="0" marL="0">
              <a:lnSpc>
                <a:spcPct val="120000"/>
              </a:lnSpc>
              <a:spcAft>
                <a:spcPts val="900"/>
              </a:spcAft>
              <a:buNone/>
            </a:pPr>
            <a:r>
              <a:rPr lang="en-US" sz="1200" b="1" dirty="0">
                <a:solidFill>
                  <a:srgbClr val="0B0B0B"/>
                </a:solidFill>
                <a:latin typeface="Calibri" pitchFamily="34" charset="0"/>
                <a:ea typeface="Calibri" pitchFamily="34" charset="-122"/>
                <a:cs typeface="Calibri" pitchFamily="34" charset="-120"/>
              </a:rPr>
              <a:t>The clincher: </a:t>
            </a:r>
            <a:pPr indent="0" marL="0">
              <a:lnSpc>
                <a:spcPct val="120000"/>
              </a:lnSpc>
              <a:spcAft>
                <a:spcPts val="900"/>
              </a:spcAft>
              <a:buNone/>
            </a:pPr>
            <a:r>
              <a:rPr lang="en-US" sz="1200" dirty="0">
                <a:solidFill>
                  <a:srgbClr val="52514E"/>
                </a:solidFill>
                <a:latin typeface="Calibri" pitchFamily="34" charset="0"/>
                <a:ea typeface="Calibri" pitchFamily="34" charset="-122"/>
                <a:cs typeface="Calibri" pitchFamily="34" charset="-120"/>
              </a:rPr>
              <a:t>Xiangjiang Wanji built its refinery in 2005 and added a gallium line in 2025. Its own filing: “adds 60 t of gallium, alumina capacity unchanged.”
</a:t>
            </a:r>
            <a:endParaRPr lang="en-US" sz="1200" dirty="0"/>
          </a:p>
          <a:p>
            <a:pPr indent="0" marL="0">
              <a:lnSpc>
                <a:spcPct val="120000"/>
              </a:lnSpc>
              <a:spcAft>
                <a:spcPts val="900"/>
              </a:spcAft>
              <a:buNone/>
            </a:pPr>
            <a:r>
              <a:rPr lang="en-US" sz="1200" b="1" dirty="0">
                <a:solidFill>
                  <a:srgbClr val="0B0B0B"/>
                </a:solidFill>
                <a:latin typeface="Calibri" pitchFamily="34" charset="0"/>
                <a:ea typeface="Calibri" pitchFamily="34" charset="-122"/>
                <a:cs typeface="Calibri" pitchFamily="34" charset="-120"/>
              </a:rPr>
              <a:t>Outsourced circuits: </a:t>
            </a:r>
            <a:pPr indent="0" marL="0">
              <a:lnSpc>
                <a:spcPct val="120000"/>
              </a:lnSpc>
              <a:spcAft>
                <a:spcPts val="900"/>
              </a:spcAft>
              <a:buNone/>
            </a:pPr>
            <a:r>
              <a:rPr lang="en-US" sz="1200" dirty="0">
                <a:solidFill>
                  <a:srgbClr val="52514E"/>
                </a:solidFill>
                <a:latin typeface="Calibri" pitchFamily="34" charset="0"/>
                <a:ea typeface="Calibri" pitchFamily="34" charset="-122"/>
                <a:cs typeface="Calibri" pitchFamily="34" charset="-120"/>
              </a:rPr>
              <a:t>the Fangyuan model ran lines at six sites. Installing is nearly free and keeping is free, so nothing ever gets torn out.</a:t>
            </a:r>
            <a:endParaRPr lang="en-US" sz="1200" dirty="0"/>
          </a:p>
        </p:txBody>
      </p:sp>
      <p:sp>
        <p:nvSpPr>
          <p:cNvPr id="6" name="Text 3"/>
          <p:cNvSpPr/>
          <p:nvPr/>
        </p:nvSpPr>
        <p:spPr>
          <a:xfrm>
            <a:off x="548640" y="6473952"/>
            <a:ext cx="11064240" cy="320040"/>
          </a:xfrm>
          <a:prstGeom prst="rect">
            <a:avLst/>
          </a:prstGeom>
          <a:noFill/>
          <a:ln/>
        </p:spPr>
        <p:txBody>
          <a:bodyPr wrap="square" lIns="0" tIns="0" rIns="0" bIns="0" rtlCol="0" anchor="ctr"/>
          <a:lstStyle/>
          <a:p>
            <a:pPr indent="0" marL="0">
              <a:buNone/>
            </a:pPr>
            <a:r>
              <a:rPr lang="en-US" sz="800" dirty="0">
                <a:solidFill>
                  <a:srgbClr val="898781"/>
                </a:solidFill>
                <a:latin typeface="Calibri" pitchFamily="34" charset="0"/>
                <a:ea typeface="Calibri" pitchFamily="34" charset="-122"/>
                <a:cs typeface="Calibri" pitchFamily="34" charset="-120"/>
              </a:rPr>
              <a:t>Sources: MEE environmental-impact filings, listed-company disclosures &amp; investor Q&amp;A, China Nonferrous Metals News (2019 survey), SHFE registered-brand list (2024), Mysteel capacity tables. Cell-level sourcing in host_vintage_gallium.csv.</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74320"/>
          </a:xfrm>
          <a:prstGeom prst="rect">
            <a:avLst/>
          </a:prstGeom>
          <a:noFill/>
          <a:ln/>
        </p:spPr>
        <p:txBody>
          <a:bodyPr wrap="square" lIns="0" tIns="0" rIns="0" bIns="0" rtlCol="0" anchor="ctr"/>
          <a:lstStyle/>
          <a:p>
            <a:pPr indent="0" marL="0">
              <a:buNone/>
            </a:pPr>
            <a:r>
              <a:rPr lang="en-US" sz="1200" b="1" spc="200" kern="0" dirty="0">
                <a:solidFill>
                  <a:srgbClr val="2A78D6"/>
                </a:solidFill>
                <a:latin typeface="Calibri" pitchFamily="34" charset="0"/>
                <a:ea typeface="Calibri" pitchFamily="34" charset="-122"/>
                <a:cs typeface="Calibri" pitchFamily="34" charset="-120"/>
              </a:rPr>
              <a:t>MAP TEST · DESIGN</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H2a · Seven exams: lock yourself into the day before the announcement</a:t>
            </a:r>
            <a:endParaRPr lang="en-US" sz="2800" dirty="0"/>
          </a:p>
        </p:txBody>
      </p:sp>
      <p:sp>
        <p:nvSpPr>
          <p:cNvPr id="4" name="Shape 2"/>
          <p:cNvSpPr/>
          <p:nvPr/>
        </p:nvSpPr>
        <p:spPr>
          <a:xfrm>
            <a:off x="548640" y="1463040"/>
            <a:ext cx="1755648" cy="1371600"/>
          </a:xfrm>
          <a:prstGeom prst="roundRect">
            <a:avLst>
              <a:gd name="adj" fmla="val 5333"/>
            </a:avLst>
          </a:prstGeom>
          <a:solidFill>
            <a:srgbClr val="F4F6FA"/>
          </a:solidFill>
          <a:ln/>
        </p:spPr>
      </p:sp>
      <p:sp>
        <p:nvSpPr>
          <p:cNvPr id="5" name="Text 3"/>
          <p:cNvSpPr/>
          <p:nvPr/>
        </p:nvSpPr>
        <p:spPr>
          <a:xfrm>
            <a:off x="676656" y="1554480"/>
            <a:ext cx="1463040" cy="384048"/>
          </a:xfrm>
          <a:prstGeom prst="rect">
            <a:avLst/>
          </a:prstGeom>
          <a:noFill/>
          <a:ln/>
        </p:spPr>
        <p:txBody>
          <a:bodyPr wrap="square" lIns="0" tIns="0" rIns="0" bIns="0" rtlCol="0" anchor="ctr"/>
          <a:lstStyle/>
          <a:p>
            <a:pPr indent="0" marL="0">
              <a:buNone/>
            </a:pPr>
            <a:r>
              <a:rPr lang="en-US" sz="1900" b="1" dirty="0">
                <a:solidFill>
                  <a:srgbClr val="2A78D6"/>
                </a:solidFill>
                <a:latin typeface="Calibri" pitchFamily="34" charset="0"/>
                <a:ea typeface="Calibri" pitchFamily="34" charset="-122"/>
                <a:cs typeface="Calibri" pitchFamily="34" charset="-120"/>
              </a:rPr>
              <a:t>A</a:t>
            </a:r>
            <a:endParaRPr lang="en-US" sz="1900" dirty="0"/>
          </a:p>
        </p:txBody>
      </p:sp>
      <p:sp>
        <p:nvSpPr>
          <p:cNvPr id="6" name="Text 4"/>
          <p:cNvSpPr/>
          <p:nvPr/>
        </p:nvSpPr>
        <p:spPr>
          <a:xfrm>
            <a:off x="676656" y="1938528"/>
            <a:ext cx="1517904" cy="27432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2023-07</a:t>
            </a:r>
            <a:endParaRPr lang="en-US" sz="1100" dirty="0"/>
          </a:p>
        </p:txBody>
      </p:sp>
      <p:sp>
        <p:nvSpPr>
          <p:cNvPr id="7" name="Text 5"/>
          <p:cNvSpPr/>
          <p:nvPr/>
        </p:nvSpPr>
        <p:spPr>
          <a:xfrm>
            <a:off x="676656" y="2212848"/>
            <a:ext cx="1536192" cy="548640"/>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Ga, Ge</a:t>
            </a:r>
            <a:endParaRPr lang="en-US" sz="1000" dirty="0"/>
          </a:p>
        </p:txBody>
      </p:sp>
      <p:sp>
        <p:nvSpPr>
          <p:cNvPr id="8" name="Shape 6"/>
          <p:cNvSpPr/>
          <p:nvPr/>
        </p:nvSpPr>
        <p:spPr>
          <a:xfrm>
            <a:off x="2423160" y="1463040"/>
            <a:ext cx="1755648" cy="1371600"/>
          </a:xfrm>
          <a:prstGeom prst="roundRect">
            <a:avLst>
              <a:gd name="adj" fmla="val 5333"/>
            </a:avLst>
          </a:prstGeom>
          <a:solidFill>
            <a:srgbClr val="F4F6FA"/>
          </a:solidFill>
          <a:ln/>
        </p:spPr>
      </p:sp>
      <p:sp>
        <p:nvSpPr>
          <p:cNvPr id="9" name="Text 7"/>
          <p:cNvSpPr/>
          <p:nvPr/>
        </p:nvSpPr>
        <p:spPr>
          <a:xfrm>
            <a:off x="2551176" y="1554480"/>
            <a:ext cx="1463040" cy="384048"/>
          </a:xfrm>
          <a:prstGeom prst="rect">
            <a:avLst/>
          </a:prstGeom>
          <a:noFill/>
          <a:ln/>
        </p:spPr>
        <p:txBody>
          <a:bodyPr wrap="square" lIns="0" tIns="0" rIns="0" bIns="0" rtlCol="0" anchor="ctr"/>
          <a:lstStyle/>
          <a:p>
            <a:pPr indent="0" marL="0">
              <a:buNone/>
            </a:pPr>
            <a:r>
              <a:rPr lang="en-US" sz="1900" b="1" dirty="0">
                <a:solidFill>
                  <a:srgbClr val="2A78D6"/>
                </a:solidFill>
                <a:latin typeface="Calibri" pitchFamily="34" charset="0"/>
                <a:ea typeface="Calibri" pitchFamily="34" charset="-122"/>
                <a:cs typeface="Calibri" pitchFamily="34" charset="-120"/>
              </a:rPr>
              <a:t>B</a:t>
            </a:r>
            <a:endParaRPr lang="en-US" sz="1900" dirty="0"/>
          </a:p>
        </p:txBody>
      </p:sp>
      <p:sp>
        <p:nvSpPr>
          <p:cNvPr id="10" name="Text 8"/>
          <p:cNvSpPr/>
          <p:nvPr/>
        </p:nvSpPr>
        <p:spPr>
          <a:xfrm>
            <a:off x="2551176" y="1938528"/>
            <a:ext cx="1517904" cy="27432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2023-10</a:t>
            </a:r>
            <a:endParaRPr lang="en-US" sz="1100" dirty="0"/>
          </a:p>
        </p:txBody>
      </p:sp>
      <p:sp>
        <p:nvSpPr>
          <p:cNvPr id="11" name="Text 9"/>
          <p:cNvSpPr/>
          <p:nvPr/>
        </p:nvSpPr>
        <p:spPr>
          <a:xfrm>
            <a:off x="2551176" y="2212848"/>
            <a:ext cx="1536192" cy="548640"/>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graphite (tightened)</a:t>
            </a:r>
            <a:endParaRPr lang="en-US" sz="1000" dirty="0"/>
          </a:p>
        </p:txBody>
      </p:sp>
      <p:sp>
        <p:nvSpPr>
          <p:cNvPr id="12" name="Shape 10"/>
          <p:cNvSpPr/>
          <p:nvPr/>
        </p:nvSpPr>
        <p:spPr>
          <a:xfrm>
            <a:off x="4297680" y="1463040"/>
            <a:ext cx="1755648" cy="1371600"/>
          </a:xfrm>
          <a:prstGeom prst="roundRect">
            <a:avLst>
              <a:gd name="adj" fmla="val 5333"/>
            </a:avLst>
          </a:prstGeom>
          <a:solidFill>
            <a:srgbClr val="F4F6FA"/>
          </a:solidFill>
          <a:ln/>
        </p:spPr>
      </p:sp>
      <p:sp>
        <p:nvSpPr>
          <p:cNvPr id="13" name="Text 11"/>
          <p:cNvSpPr/>
          <p:nvPr/>
        </p:nvSpPr>
        <p:spPr>
          <a:xfrm>
            <a:off x="4425696" y="1554480"/>
            <a:ext cx="1463040" cy="384048"/>
          </a:xfrm>
          <a:prstGeom prst="rect">
            <a:avLst/>
          </a:prstGeom>
          <a:noFill/>
          <a:ln/>
        </p:spPr>
        <p:txBody>
          <a:bodyPr wrap="square" lIns="0" tIns="0" rIns="0" bIns="0" rtlCol="0" anchor="ctr"/>
          <a:lstStyle/>
          <a:p>
            <a:pPr indent="0" marL="0">
              <a:buNone/>
            </a:pPr>
            <a:r>
              <a:rPr lang="en-US" sz="1900" b="1" dirty="0">
                <a:solidFill>
                  <a:srgbClr val="2A78D6"/>
                </a:solidFill>
                <a:latin typeface="Calibri" pitchFamily="34" charset="0"/>
                <a:ea typeface="Calibri" pitchFamily="34" charset="-122"/>
                <a:cs typeface="Calibri" pitchFamily="34" charset="-120"/>
              </a:rPr>
              <a:t>C</a:t>
            </a:r>
            <a:endParaRPr lang="en-US" sz="1900" dirty="0"/>
          </a:p>
        </p:txBody>
      </p:sp>
      <p:sp>
        <p:nvSpPr>
          <p:cNvPr id="14" name="Text 12"/>
          <p:cNvSpPr/>
          <p:nvPr/>
        </p:nvSpPr>
        <p:spPr>
          <a:xfrm>
            <a:off x="4425696" y="1938528"/>
            <a:ext cx="1517904" cy="27432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2024-08</a:t>
            </a:r>
            <a:endParaRPr lang="en-US" sz="1100" dirty="0"/>
          </a:p>
        </p:txBody>
      </p:sp>
      <p:sp>
        <p:nvSpPr>
          <p:cNvPr id="15" name="Text 13"/>
          <p:cNvSpPr/>
          <p:nvPr/>
        </p:nvSpPr>
        <p:spPr>
          <a:xfrm>
            <a:off x="4425696" y="2212848"/>
            <a:ext cx="1536192" cy="548640"/>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antimony</a:t>
            </a:r>
            <a:endParaRPr lang="en-US" sz="1000" dirty="0"/>
          </a:p>
        </p:txBody>
      </p:sp>
      <p:sp>
        <p:nvSpPr>
          <p:cNvPr id="16" name="Shape 14"/>
          <p:cNvSpPr/>
          <p:nvPr/>
        </p:nvSpPr>
        <p:spPr>
          <a:xfrm>
            <a:off x="6172200" y="1463040"/>
            <a:ext cx="1755648" cy="1371600"/>
          </a:xfrm>
          <a:prstGeom prst="roundRect">
            <a:avLst>
              <a:gd name="adj" fmla="val 5333"/>
            </a:avLst>
          </a:prstGeom>
          <a:solidFill>
            <a:srgbClr val="F4F6FA"/>
          </a:solidFill>
          <a:ln/>
        </p:spPr>
      </p:sp>
      <p:sp>
        <p:nvSpPr>
          <p:cNvPr id="17" name="Text 15"/>
          <p:cNvSpPr/>
          <p:nvPr/>
        </p:nvSpPr>
        <p:spPr>
          <a:xfrm>
            <a:off x="6300216" y="1554480"/>
            <a:ext cx="1463040" cy="384048"/>
          </a:xfrm>
          <a:prstGeom prst="rect">
            <a:avLst/>
          </a:prstGeom>
          <a:noFill/>
          <a:ln/>
        </p:spPr>
        <p:txBody>
          <a:bodyPr wrap="square" lIns="0" tIns="0" rIns="0" bIns="0" rtlCol="0" anchor="ctr"/>
          <a:lstStyle/>
          <a:p>
            <a:pPr indent="0" marL="0">
              <a:buNone/>
            </a:pPr>
            <a:r>
              <a:rPr lang="en-US" sz="1900" b="1" dirty="0">
                <a:solidFill>
                  <a:srgbClr val="2A78D6"/>
                </a:solidFill>
                <a:latin typeface="Calibri" pitchFamily="34" charset="0"/>
                <a:ea typeface="Calibri" pitchFamily="34" charset="-122"/>
                <a:cs typeface="Calibri" pitchFamily="34" charset="-120"/>
              </a:rPr>
              <a:t>D</a:t>
            </a:r>
            <a:endParaRPr lang="en-US" sz="1900" dirty="0"/>
          </a:p>
        </p:txBody>
      </p:sp>
      <p:sp>
        <p:nvSpPr>
          <p:cNvPr id="18" name="Text 16"/>
          <p:cNvSpPr/>
          <p:nvPr/>
        </p:nvSpPr>
        <p:spPr>
          <a:xfrm>
            <a:off x="6300216" y="1938528"/>
            <a:ext cx="1517904" cy="27432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2025-02</a:t>
            </a:r>
            <a:endParaRPr lang="en-US" sz="1100" dirty="0"/>
          </a:p>
        </p:txBody>
      </p:sp>
      <p:sp>
        <p:nvSpPr>
          <p:cNvPr id="19" name="Text 17"/>
          <p:cNvSpPr/>
          <p:nvPr/>
        </p:nvSpPr>
        <p:spPr>
          <a:xfrm>
            <a:off x="6300216" y="2212848"/>
            <a:ext cx="1536192" cy="548640"/>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W, Te, Bi, Mo, In</a:t>
            </a:r>
            <a:endParaRPr lang="en-US" sz="1000" dirty="0"/>
          </a:p>
        </p:txBody>
      </p:sp>
      <p:sp>
        <p:nvSpPr>
          <p:cNvPr id="20" name="Shape 18"/>
          <p:cNvSpPr/>
          <p:nvPr/>
        </p:nvSpPr>
        <p:spPr>
          <a:xfrm>
            <a:off x="8046720" y="1463040"/>
            <a:ext cx="1755648" cy="1371600"/>
          </a:xfrm>
          <a:prstGeom prst="roundRect">
            <a:avLst>
              <a:gd name="adj" fmla="val 5333"/>
            </a:avLst>
          </a:prstGeom>
          <a:solidFill>
            <a:srgbClr val="F4F6FA"/>
          </a:solidFill>
          <a:ln/>
        </p:spPr>
      </p:sp>
      <p:sp>
        <p:nvSpPr>
          <p:cNvPr id="21" name="Text 19"/>
          <p:cNvSpPr/>
          <p:nvPr/>
        </p:nvSpPr>
        <p:spPr>
          <a:xfrm>
            <a:off x="8174736" y="1554480"/>
            <a:ext cx="1463040" cy="384048"/>
          </a:xfrm>
          <a:prstGeom prst="rect">
            <a:avLst/>
          </a:prstGeom>
          <a:noFill/>
          <a:ln/>
        </p:spPr>
        <p:txBody>
          <a:bodyPr wrap="square" lIns="0" tIns="0" rIns="0" bIns="0" rtlCol="0" anchor="ctr"/>
          <a:lstStyle/>
          <a:p>
            <a:pPr indent="0" marL="0">
              <a:buNone/>
            </a:pPr>
            <a:r>
              <a:rPr lang="en-US" sz="1900" b="1" dirty="0">
                <a:solidFill>
                  <a:srgbClr val="2A78D6"/>
                </a:solidFill>
                <a:latin typeface="Calibri" pitchFamily="34" charset="0"/>
                <a:ea typeface="Calibri" pitchFamily="34" charset="-122"/>
                <a:cs typeface="Calibri" pitchFamily="34" charset="-120"/>
              </a:rPr>
              <a:t>E1</a:t>
            </a:r>
            <a:endParaRPr lang="en-US" sz="1900" dirty="0"/>
          </a:p>
        </p:txBody>
      </p:sp>
      <p:sp>
        <p:nvSpPr>
          <p:cNvPr id="22" name="Text 20"/>
          <p:cNvSpPr/>
          <p:nvPr/>
        </p:nvSpPr>
        <p:spPr>
          <a:xfrm>
            <a:off x="8174736" y="1938528"/>
            <a:ext cx="1517904" cy="27432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2025-04</a:t>
            </a:r>
            <a:endParaRPr lang="en-US" sz="1100" dirty="0"/>
          </a:p>
        </p:txBody>
      </p:sp>
      <p:sp>
        <p:nvSpPr>
          <p:cNvPr id="23" name="Text 21"/>
          <p:cNvSpPr/>
          <p:nvPr/>
        </p:nvSpPr>
        <p:spPr>
          <a:xfrm>
            <a:off x="8174736" y="2212848"/>
            <a:ext cx="1536192" cy="548640"/>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7 heavy rare earths</a:t>
            </a:r>
            <a:endParaRPr lang="en-US" sz="1000" dirty="0"/>
          </a:p>
        </p:txBody>
      </p:sp>
      <p:sp>
        <p:nvSpPr>
          <p:cNvPr id="24" name="Shape 22"/>
          <p:cNvSpPr/>
          <p:nvPr/>
        </p:nvSpPr>
        <p:spPr>
          <a:xfrm>
            <a:off x="9921240" y="1463040"/>
            <a:ext cx="1755648" cy="1371600"/>
          </a:xfrm>
          <a:prstGeom prst="roundRect">
            <a:avLst>
              <a:gd name="adj" fmla="val 5333"/>
            </a:avLst>
          </a:prstGeom>
          <a:solidFill>
            <a:srgbClr val="F4F6FA"/>
          </a:solidFill>
          <a:ln/>
        </p:spPr>
      </p:sp>
      <p:sp>
        <p:nvSpPr>
          <p:cNvPr id="25" name="Text 23"/>
          <p:cNvSpPr/>
          <p:nvPr/>
        </p:nvSpPr>
        <p:spPr>
          <a:xfrm>
            <a:off x="10049256" y="1554480"/>
            <a:ext cx="1463040" cy="384048"/>
          </a:xfrm>
          <a:prstGeom prst="rect">
            <a:avLst/>
          </a:prstGeom>
          <a:noFill/>
          <a:ln/>
        </p:spPr>
        <p:txBody>
          <a:bodyPr wrap="square" lIns="0" tIns="0" rIns="0" bIns="0" rtlCol="0" anchor="ctr"/>
          <a:lstStyle/>
          <a:p>
            <a:pPr indent="0" marL="0">
              <a:buNone/>
            </a:pPr>
            <a:r>
              <a:rPr lang="en-US" sz="1900" b="1" dirty="0">
                <a:solidFill>
                  <a:srgbClr val="2A78D6"/>
                </a:solidFill>
                <a:latin typeface="Calibri" pitchFamily="34" charset="0"/>
                <a:ea typeface="Calibri" pitchFamily="34" charset="-122"/>
                <a:cs typeface="Calibri" pitchFamily="34" charset="-120"/>
              </a:rPr>
              <a:t>E2</a:t>
            </a:r>
            <a:endParaRPr lang="en-US" sz="1900" dirty="0"/>
          </a:p>
        </p:txBody>
      </p:sp>
      <p:sp>
        <p:nvSpPr>
          <p:cNvPr id="26" name="Text 24"/>
          <p:cNvSpPr/>
          <p:nvPr/>
        </p:nvSpPr>
        <p:spPr>
          <a:xfrm>
            <a:off x="10049256" y="1938528"/>
            <a:ext cx="1517904" cy="27432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2025-10</a:t>
            </a:r>
            <a:endParaRPr lang="en-US" sz="1100" dirty="0"/>
          </a:p>
        </p:txBody>
      </p:sp>
      <p:sp>
        <p:nvSpPr>
          <p:cNvPr id="27" name="Text 25"/>
          <p:cNvSpPr/>
          <p:nvPr/>
        </p:nvSpPr>
        <p:spPr>
          <a:xfrm>
            <a:off x="10049256" y="2212848"/>
            <a:ext cx="1536192" cy="548640"/>
          </a:xfrm>
          <a:prstGeom prst="rect">
            <a:avLst/>
          </a:prstGeom>
          <a:noFill/>
          <a:ln/>
        </p:spPr>
        <p:txBody>
          <a:bodyPr wrap="square" lIns="0" tIns="0" rIns="0" bIns="0" rtlCol="0" anchor="ctr"/>
          <a:lstStyle/>
          <a:p>
            <a:pPr indent="0" marL="0">
              <a:buNone/>
            </a:pPr>
            <a:r>
              <a:rPr lang="en-US" sz="1000" dirty="0">
                <a:solidFill>
                  <a:srgbClr val="52514E"/>
                </a:solidFill>
                <a:latin typeface="Calibri" pitchFamily="34" charset="0"/>
                <a:ea typeface="Calibri" pitchFamily="34" charset="-122"/>
                <a:cs typeface="Calibri" pitchFamily="34" charset="-120"/>
              </a:rPr>
              <a:t>5 rare earths + diamond</a:t>
            </a:r>
            <a:endParaRPr lang="en-US" sz="1000" dirty="0"/>
          </a:p>
        </p:txBody>
      </p:sp>
      <p:sp>
        <p:nvSpPr>
          <p:cNvPr id="28" name="Text 26"/>
          <p:cNvSpPr/>
          <p:nvPr/>
        </p:nvSpPr>
        <p:spPr>
          <a:xfrm>
            <a:off x="548640" y="3063240"/>
            <a:ext cx="11064240" cy="411480"/>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Procedure: pre-cutoff data only → score all 100 commodities → take the top ten → let the real world grade it (precision@10 plus specificity).</a:t>
            </a:r>
            <a:endParaRPr lang="en-US" sz="1400" dirty="0"/>
          </a:p>
        </p:txBody>
      </p:sp>
      <p:sp>
        <p:nvSpPr>
          <p:cNvPr id="29" name="Shape 27"/>
          <p:cNvSpPr/>
          <p:nvPr/>
        </p:nvSpPr>
        <p:spPr>
          <a:xfrm>
            <a:off x="594360" y="3730752"/>
            <a:ext cx="384048" cy="384048"/>
          </a:xfrm>
          <a:prstGeom prst="ellipse">
            <a:avLst/>
          </a:prstGeom>
          <a:solidFill>
            <a:srgbClr val="EB6834"/>
          </a:solidFill>
          <a:ln/>
        </p:spPr>
      </p:sp>
      <p:sp>
        <p:nvSpPr>
          <p:cNvPr id="30" name="Text 28"/>
          <p:cNvSpPr/>
          <p:nvPr/>
        </p:nvSpPr>
        <p:spPr>
          <a:xfrm>
            <a:off x="594360" y="3717036"/>
            <a:ext cx="38404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31" name="Text 29"/>
          <p:cNvSpPr/>
          <p:nvPr/>
        </p:nvSpPr>
        <p:spPr>
          <a:xfrm>
            <a:off x="1143000" y="3703320"/>
            <a:ext cx="10515600" cy="566928"/>
          </a:xfrm>
          <a:prstGeom prst="rect">
            <a:avLst/>
          </a:prstGeom>
          <a:noFill/>
          <a:ln/>
        </p:spPr>
        <p:txBody>
          <a:bodyPr wrap="square" lIns="0" tIns="0" rIns="0" bIns="0" rtlCol="0" anchor="ctr"/>
          <a:lstStyle/>
          <a:p>
            <a:pPr indent="0" marL="0">
              <a:lnSpc>
                <a:spcPct val="110000"/>
              </a:lnSpc>
              <a:buNone/>
            </a:pPr>
            <a:r>
              <a:rPr lang="en-US" sz="1300" b="1" dirty="0">
                <a:solidFill>
                  <a:srgbClr val="0B0B0B"/>
                </a:solidFill>
                <a:latin typeface="Calibri" pitchFamily="34" charset="0"/>
                <a:ea typeface="Calibri" pitchFamily="34" charset="-122"/>
                <a:cs typeface="Calibri" pitchFamily="34" charset="-120"/>
              </a:rPr>
              <a:t>Cutoff discipline   </a:t>
            </a:r>
            <a:pPr indent="0" marL="0">
              <a:lnSpc>
                <a:spcPct val="110000"/>
              </a:lnSpc>
              <a:buNone/>
            </a:pPr>
            <a:r>
              <a:rPr lang="en-US" sz="1300" dirty="0">
                <a:solidFill>
                  <a:srgbClr val="52514E"/>
                </a:solidFill>
                <a:latin typeface="Calibri" pitchFamily="34" charset="0"/>
                <a:ea typeface="Calibri" pitchFamily="34" charset="-122"/>
                <a:cs typeface="Calibri" pitchFamily="34" charset="-120"/>
              </a:rPr>
              <a:t>information frozen per exam; D and E1 pull back to before the US actions that triggered them, so no retaliation expectations leak in</a:t>
            </a:r>
            <a:endParaRPr lang="en-US" sz="1300" dirty="0"/>
          </a:p>
        </p:txBody>
      </p:sp>
      <p:sp>
        <p:nvSpPr>
          <p:cNvPr id="32" name="Shape 30"/>
          <p:cNvSpPr/>
          <p:nvPr/>
        </p:nvSpPr>
        <p:spPr>
          <a:xfrm>
            <a:off x="594360" y="4389120"/>
            <a:ext cx="384048" cy="384048"/>
          </a:xfrm>
          <a:prstGeom prst="ellipse">
            <a:avLst/>
          </a:prstGeom>
          <a:solidFill>
            <a:srgbClr val="EB6834"/>
          </a:solidFill>
          <a:ln/>
        </p:spPr>
      </p:sp>
      <p:sp>
        <p:nvSpPr>
          <p:cNvPr id="33" name="Text 31"/>
          <p:cNvSpPr/>
          <p:nvPr/>
        </p:nvSpPr>
        <p:spPr>
          <a:xfrm>
            <a:off x="594360" y="4375404"/>
            <a:ext cx="38404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4" name="Text 32"/>
          <p:cNvSpPr/>
          <p:nvPr/>
        </p:nvSpPr>
        <p:spPr>
          <a:xfrm>
            <a:off x="1143000" y="4361688"/>
            <a:ext cx="10515600" cy="566928"/>
          </a:xfrm>
          <a:prstGeom prst="rect">
            <a:avLst/>
          </a:prstGeom>
          <a:noFill/>
          <a:ln/>
        </p:spPr>
        <p:txBody>
          <a:bodyPr wrap="square" lIns="0" tIns="0" rIns="0" bIns="0" rtlCol="0" anchor="ctr"/>
          <a:lstStyle/>
          <a:p>
            <a:pPr indent="0" marL="0">
              <a:lnSpc>
                <a:spcPct val="110000"/>
              </a:lnSpc>
              <a:buNone/>
            </a:pPr>
            <a:r>
              <a:rPr lang="en-US" sz="1300" b="1" dirty="0">
                <a:solidFill>
                  <a:srgbClr val="0B0B0B"/>
                </a:solidFill>
                <a:latin typeface="Calibri" pitchFamily="34" charset="0"/>
                <a:ea typeface="Calibri" pitchFamily="34" charset="-122"/>
                <a:cs typeface="Calibri" pitchFamily="34" charset="-120"/>
              </a:rPr>
              <a:t>Pool defined externally   </a:t>
            </a:r>
            <a:pPr indent="0" marL="0">
              <a:lnSpc>
                <a:spcPct val="110000"/>
              </a:lnSpc>
              <a:buNone/>
            </a:pPr>
            <a:r>
              <a:rPr lang="en-US" sz="1300" dirty="0">
                <a:solidFill>
                  <a:srgbClr val="52514E"/>
                </a:solidFill>
                <a:latin typeface="Calibri" pitchFamily="34" charset="0"/>
                <a:ea typeface="Calibri" pitchFamily="34" charset="-122"/>
                <a:cs typeface="Calibri" pitchFamily="34" charset="-120"/>
              </a:rPr>
              <a:t>USGS list: 86 commodities plus 14 lanthanides, 100 rows, nothing added or dropped. Pool closed out Aug 15: 88 rows share-valued from pre-cutoff sources, 11 documented-NA (USGS states no data exists)</a:t>
            </a:r>
            <a:endParaRPr lang="en-US" sz="1300" dirty="0"/>
          </a:p>
        </p:txBody>
      </p:sp>
      <p:sp>
        <p:nvSpPr>
          <p:cNvPr id="35" name="Shape 33"/>
          <p:cNvSpPr/>
          <p:nvPr/>
        </p:nvSpPr>
        <p:spPr>
          <a:xfrm>
            <a:off x="594360" y="5047488"/>
            <a:ext cx="384048" cy="384048"/>
          </a:xfrm>
          <a:prstGeom prst="ellipse">
            <a:avLst/>
          </a:prstGeom>
          <a:solidFill>
            <a:srgbClr val="EB6834"/>
          </a:solidFill>
          <a:ln/>
        </p:spPr>
      </p:sp>
      <p:sp>
        <p:nvSpPr>
          <p:cNvPr id="36" name="Text 34"/>
          <p:cNvSpPr/>
          <p:nvPr/>
        </p:nvSpPr>
        <p:spPr>
          <a:xfrm>
            <a:off x="594360" y="5033772"/>
            <a:ext cx="38404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7" name="Text 35"/>
          <p:cNvSpPr/>
          <p:nvPr/>
        </p:nvSpPr>
        <p:spPr>
          <a:xfrm>
            <a:off x="1143000" y="5020056"/>
            <a:ext cx="10515600" cy="566928"/>
          </a:xfrm>
          <a:prstGeom prst="rect">
            <a:avLst/>
          </a:prstGeom>
          <a:noFill/>
          <a:ln/>
        </p:spPr>
        <p:txBody>
          <a:bodyPr wrap="square" lIns="0" tIns="0" rIns="0" bIns="0" rtlCol="0" anchor="ctr"/>
          <a:lstStyle/>
          <a:p>
            <a:pPr indent="0" marL="0">
              <a:lnSpc>
                <a:spcPct val="110000"/>
              </a:lnSpc>
              <a:buNone/>
            </a:pPr>
            <a:r>
              <a:rPr lang="en-US" sz="1300" b="1" dirty="0">
                <a:solidFill>
                  <a:srgbClr val="0B0B0B"/>
                </a:solidFill>
                <a:latin typeface="Calibri" pitchFamily="34" charset="0"/>
                <a:ea typeface="Calibri" pitchFamily="34" charset="-122"/>
                <a:cs typeface="Calibri" pitchFamily="34" charset="-120"/>
              </a:rPr>
              <a:t>Criticality imported   </a:t>
            </a:r>
            <a:pPr indent="0" marL="0">
              <a:lnSpc>
                <a:spcPct val="110000"/>
              </a:lnSpc>
              <a:buNone/>
            </a:pPr>
            <a:r>
              <a:rPr lang="en-US" sz="1300" dirty="0">
                <a:solidFill>
                  <a:srgbClr val="52514E"/>
                </a:solidFill>
                <a:latin typeface="Calibri" pitchFamily="34" charset="0"/>
                <a:ea typeface="Calibri" pitchFamily="34" charset="-122"/>
                <a:cs typeface="Calibri" pitchFamily="34" charset="-120"/>
              </a:rPr>
              <a:t>scores and shares as published by USGS in 2021, before any of these controls existed</a:t>
            </a:r>
            <a:endParaRPr lang="en-US" sz="1300" dirty="0"/>
          </a:p>
        </p:txBody>
      </p:sp>
      <p:sp>
        <p:nvSpPr>
          <p:cNvPr id="38" name="Shape 36"/>
          <p:cNvSpPr/>
          <p:nvPr/>
        </p:nvSpPr>
        <p:spPr>
          <a:xfrm>
            <a:off x="594360" y="5705856"/>
            <a:ext cx="384048" cy="384048"/>
          </a:xfrm>
          <a:prstGeom prst="ellipse">
            <a:avLst/>
          </a:prstGeom>
          <a:solidFill>
            <a:srgbClr val="EB6834"/>
          </a:solidFill>
          <a:ln/>
        </p:spPr>
      </p:sp>
      <p:sp>
        <p:nvSpPr>
          <p:cNvPr id="39" name="Text 37"/>
          <p:cNvSpPr/>
          <p:nvPr/>
        </p:nvSpPr>
        <p:spPr>
          <a:xfrm>
            <a:off x="594360" y="5692140"/>
            <a:ext cx="38404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0" name="Text 38"/>
          <p:cNvSpPr/>
          <p:nvPr/>
        </p:nvSpPr>
        <p:spPr>
          <a:xfrm>
            <a:off x="1143000" y="5678424"/>
            <a:ext cx="10515600" cy="566928"/>
          </a:xfrm>
          <a:prstGeom prst="rect">
            <a:avLst/>
          </a:prstGeom>
          <a:noFill/>
          <a:ln/>
        </p:spPr>
        <p:txBody>
          <a:bodyPr wrap="square" lIns="0" tIns="0" rIns="0" bIns="0" rtlCol="0" anchor="ctr"/>
          <a:lstStyle/>
          <a:p>
            <a:pPr indent="0" marL="0">
              <a:lnSpc>
                <a:spcPct val="110000"/>
              </a:lnSpc>
              <a:buNone/>
            </a:pPr>
            <a:r>
              <a:rPr lang="en-US" sz="1300" b="1" dirty="0">
                <a:solidFill>
                  <a:srgbClr val="0B0B0B"/>
                </a:solidFill>
                <a:latin typeface="Calibri" pitchFamily="34" charset="0"/>
                <a:ea typeface="Calibri" pitchFamily="34" charset="-122"/>
                <a:cs typeface="Calibri" pitchFamily="34" charset="-120"/>
              </a:rPr>
              <a:t>Terms by rule, then audited   </a:t>
            </a:r>
            <a:pPr indent="0" marL="0">
              <a:lnSpc>
                <a:spcPct val="110000"/>
              </a:lnSpc>
              <a:buNone/>
            </a:pPr>
            <a:r>
              <a:rPr lang="en-US" sz="1300" dirty="0">
                <a:solidFill>
                  <a:srgbClr val="52514E"/>
                </a:solidFill>
                <a:latin typeface="Calibri" pitchFamily="34" charset="0"/>
                <a:ea typeface="Calibri" pitchFamily="34" charset="-122"/>
                <a:cs typeface="Calibri" pitchFamily="34" charset="-120"/>
              </a:rPr>
              <a:t>queries generated from USGS row names by outcome-blind rules; 23 mechanical overrides, all audited for direction — none affects the headline, two disclosed</a:t>
            </a:r>
            <a:endParaRPr lang="en-US" sz="1300" dirty="0"/>
          </a:p>
        </p:txBody>
      </p:sp>
      <p:sp>
        <p:nvSpPr>
          <p:cNvPr id="41" name="Text 39"/>
          <p:cNvSpPr/>
          <p:nvPr/>
        </p:nvSpPr>
        <p:spPr>
          <a:xfrm>
            <a:off x="548640" y="6400800"/>
            <a:ext cx="11064240" cy="320040"/>
          </a:xfrm>
          <a:prstGeom prst="rect">
            <a:avLst/>
          </a:prstGeom>
          <a:noFill/>
          <a:ln/>
        </p:spPr>
        <p:txBody>
          <a:bodyPr wrap="square" lIns="0" tIns="0" rIns="0" bIns="0" rtlCol="0" anchor="ctr"/>
          <a:lstStyle/>
          <a:p>
            <a:pPr indent="0" marL="0">
              <a:buNone/>
            </a:pPr>
            <a:r>
              <a:rPr lang="en-US" sz="800" dirty="0">
                <a:solidFill>
                  <a:srgbClr val="898781"/>
                </a:solidFill>
                <a:latin typeface="Calibri" pitchFamily="34" charset="0"/>
                <a:ea typeface="Calibri" pitchFamily="34" charset="-122"/>
                <a:cs typeface="Calibri" pitchFamily="34" charset="-120"/>
              </a:rPr>
              <a:t>Official texts: MOFCOM Announcements No. 23 &amp; 39 (2023), No. 33 (2024), No. 10, 18, 55–58, 61–62 (2025), archived with URLs. Criticality inputs: Nassar &amp; Fortier (2021); element shares: DOE (2022), USGS MCS (2023), SCRREEN (2023).</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74320"/>
          </a:xfrm>
          <a:prstGeom prst="rect">
            <a:avLst/>
          </a:prstGeom>
          <a:noFill/>
          <a:ln/>
        </p:spPr>
        <p:txBody>
          <a:bodyPr wrap="square" lIns="0" tIns="0" rIns="0" bIns="0" rtlCol="0" anchor="ctr"/>
          <a:lstStyle/>
          <a:p>
            <a:pPr indent="0" marL="0">
              <a:buNone/>
            </a:pPr>
            <a:r>
              <a:rPr lang="en-US" sz="1200" b="1" spc="200" kern="0" dirty="0">
                <a:solidFill>
                  <a:srgbClr val="2A78D6"/>
                </a:solidFill>
                <a:latin typeface="Calibri" pitchFamily="34" charset="0"/>
                <a:ea typeface="Calibri" pitchFamily="34" charset="-122"/>
                <a:cs typeface="Calibri" pitchFamily="34" charset="-120"/>
              </a:rPr>
              <a:t>MAP TEST · RESULTS · COMPLETED POOL</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H2a · Results: the cards came almost entirely from the pre-marked zone</a:t>
            </a:r>
            <a:endParaRPr lang="en-US" sz="2800" dirty="0"/>
          </a:p>
        </p:txBody>
      </p:sp>
      <p:sp>
        <p:nvSpPr>
          <p:cNvPr id="4" name="Shape 2"/>
          <p:cNvSpPr/>
          <p:nvPr/>
        </p:nvSpPr>
        <p:spPr>
          <a:xfrm>
            <a:off x="548640" y="1417320"/>
            <a:ext cx="3611880" cy="1417320"/>
          </a:xfrm>
          <a:prstGeom prst="roundRect">
            <a:avLst>
              <a:gd name="adj" fmla="val 5161"/>
            </a:avLst>
          </a:prstGeom>
          <a:solidFill>
            <a:srgbClr val="F4F6FA"/>
          </a:solidFill>
          <a:ln/>
        </p:spPr>
      </p:sp>
      <p:sp>
        <p:nvSpPr>
          <p:cNvPr id="5" name="Text 3"/>
          <p:cNvSpPr/>
          <p:nvPr/>
        </p:nvSpPr>
        <p:spPr>
          <a:xfrm>
            <a:off x="685800" y="1527048"/>
            <a:ext cx="3337560" cy="731520"/>
          </a:xfrm>
          <a:prstGeom prst="rect">
            <a:avLst/>
          </a:prstGeom>
          <a:noFill/>
          <a:ln/>
        </p:spPr>
        <p:txBody>
          <a:bodyPr wrap="square" lIns="0" tIns="0" rIns="0" bIns="0" rtlCol="0" anchor="ctr"/>
          <a:lstStyle/>
          <a:p>
            <a:pPr indent="0" marL="0">
              <a:buNone/>
            </a:pPr>
            <a:r>
              <a:rPr lang="en-US" sz="2800" b="1" dirty="0">
                <a:solidFill>
                  <a:srgbClr val="2A78D6"/>
                </a:solidFill>
                <a:latin typeface="Calibri" pitchFamily="34" charset="0"/>
                <a:ea typeface="Calibri" pitchFamily="34" charset="-122"/>
                <a:cs typeface="Calibri" pitchFamily="34" charset="-120"/>
              </a:rPr>
              <a:t>9–10 of 10</a:t>
            </a:r>
            <a:endParaRPr lang="en-US" sz="2800" dirty="0"/>
          </a:p>
        </p:txBody>
      </p:sp>
      <p:sp>
        <p:nvSpPr>
          <p:cNvPr id="6" name="Text 4"/>
          <p:cNvSpPr/>
          <p:nvPr/>
        </p:nvSpPr>
        <p:spPr>
          <a:xfrm>
            <a:off x="685800" y="2221992"/>
            <a:ext cx="3337560" cy="5486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per exam: 9/9/9/10/10 hits, p from 7.4×10⁻⁶ down to 2.0×10⁻¹⁰; in E2 the six commodities announced swept ranks 1–6</a:t>
            </a:r>
            <a:endParaRPr lang="en-US" sz="1100" dirty="0"/>
          </a:p>
        </p:txBody>
      </p:sp>
      <p:sp>
        <p:nvSpPr>
          <p:cNvPr id="7" name="Shape 5"/>
          <p:cNvSpPr/>
          <p:nvPr/>
        </p:nvSpPr>
        <p:spPr>
          <a:xfrm>
            <a:off x="4343400" y="1417320"/>
            <a:ext cx="3611880" cy="1417320"/>
          </a:xfrm>
          <a:prstGeom prst="roundRect">
            <a:avLst>
              <a:gd name="adj" fmla="val 5161"/>
            </a:avLst>
          </a:prstGeom>
          <a:solidFill>
            <a:srgbClr val="F4F6FA"/>
          </a:solidFill>
          <a:ln/>
        </p:spPr>
      </p:sp>
      <p:sp>
        <p:nvSpPr>
          <p:cNvPr id="8" name="Text 6"/>
          <p:cNvSpPr/>
          <p:nvPr/>
        </p:nvSpPr>
        <p:spPr>
          <a:xfrm>
            <a:off x="4480560" y="1527048"/>
            <a:ext cx="3337560" cy="731520"/>
          </a:xfrm>
          <a:prstGeom prst="rect">
            <a:avLst/>
          </a:prstGeom>
          <a:noFill/>
          <a:ln/>
        </p:spPr>
        <p:txBody>
          <a:bodyPr wrap="square" lIns="0" tIns="0" rIns="0" bIns="0" rtlCol="0" anchor="ctr"/>
          <a:lstStyle/>
          <a:p>
            <a:pPr indent="0" marL="0">
              <a:buNone/>
            </a:pPr>
            <a:r>
              <a:rPr lang="en-US" sz="2800" b="1" dirty="0">
                <a:solidFill>
                  <a:srgbClr val="1BAF7A"/>
                </a:solidFill>
                <a:latin typeface="Calibri" pitchFamily="34" charset="0"/>
                <a:ea typeface="Calibri" pitchFamily="34" charset="-122"/>
                <a:cs typeface="Calibri" pitchFamily="34" charset="-120"/>
              </a:rPr>
              <a:t>Diamond ×6</a:t>
            </a:r>
            <a:endParaRPr lang="en-US" sz="2800" dirty="0"/>
          </a:p>
        </p:txBody>
      </p:sp>
      <p:sp>
        <p:nvSpPr>
          <p:cNvPr id="9" name="Text 7"/>
          <p:cNvSpPr/>
          <p:nvPr/>
        </p:nvSpPr>
        <p:spPr>
          <a:xfrm>
            <a:off x="4480560" y="2221992"/>
            <a:ext cx="3337560" cy="5486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flagged in every exam's top ten, 21–27 months early (E2: #5); after its restriction, US media wrote zero articles in 30 days — only stocks read it</a:t>
            </a:r>
            <a:endParaRPr lang="en-US" sz="1100" dirty="0"/>
          </a:p>
        </p:txBody>
      </p:sp>
      <p:sp>
        <p:nvSpPr>
          <p:cNvPr id="10" name="Shape 8"/>
          <p:cNvSpPr/>
          <p:nvPr/>
        </p:nvSpPr>
        <p:spPr>
          <a:xfrm>
            <a:off x="8138160" y="1417320"/>
            <a:ext cx="3520440" cy="1417320"/>
          </a:xfrm>
          <a:prstGeom prst="roundRect">
            <a:avLst>
              <a:gd name="adj" fmla="val 5161"/>
            </a:avLst>
          </a:prstGeom>
          <a:solidFill>
            <a:srgbClr val="F4F6FA"/>
          </a:solidFill>
          <a:ln/>
        </p:spPr>
      </p:sp>
      <p:sp>
        <p:nvSpPr>
          <p:cNvPr id="11" name="Text 9"/>
          <p:cNvSpPr/>
          <p:nvPr/>
        </p:nvSpPr>
        <p:spPr>
          <a:xfrm>
            <a:off x="8275320" y="1527048"/>
            <a:ext cx="3246120" cy="731520"/>
          </a:xfrm>
          <a:prstGeom prst="rect">
            <a:avLst/>
          </a:prstGeom>
          <a:noFill/>
          <a:ln/>
        </p:spPr>
        <p:txBody>
          <a:bodyPr wrap="square" lIns="0" tIns="0" rIns="0" bIns="0" rtlCol="0" anchor="ctr"/>
          <a:lstStyle/>
          <a:p>
            <a:pPr indent="0" marL="0">
              <a:buNone/>
            </a:pPr>
            <a:r>
              <a:rPr lang="en-US" sz="2800" b="1" dirty="0">
                <a:solidFill>
                  <a:srgbClr val="EB6834"/>
                </a:solidFill>
                <a:latin typeface="Calibri" pitchFamily="34" charset="0"/>
                <a:ea typeface="Calibri" pitchFamily="34" charset="-122"/>
                <a:cs typeface="Calibri" pitchFamily="34" charset="-120"/>
              </a:rPr>
              <a:t>1 false light</a:t>
            </a:r>
            <a:endParaRPr lang="en-US" sz="2800" dirty="0"/>
          </a:p>
        </p:txBody>
      </p:sp>
      <p:sp>
        <p:nvSpPr>
          <p:cNvPr id="12" name="Text 10"/>
          <p:cNvSpPr/>
          <p:nvPr/>
        </p:nvSpPr>
        <p:spPr>
          <a:xfrm>
            <a:off x="8275320" y="2221992"/>
            <a:ext cx="3246120" cy="5486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wollastonite, a 75%-share filler mineral on no critical list — the on-record cost of running without a criticality gate</a:t>
            </a:r>
            <a:endParaRPr lang="en-US" sz="1100" dirty="0"/>
          </a:p>
        </p:txBody>
      </p:sp>
      <p:sp>
        <p:nvSpPr>
          <p:cNvPr id="13" name="Text 11"/>
          <p:cNvSpPr/>
          <p:nvPr/>
        </p:nvSpPr>
        <p:spPr>
          <a:xfrm>
            <a:off x="548640" y="3108960"/>
            <a:ext cx="11064240" cy="3291840"/>
          </a:xfrm>
          <a:prstGeom prst="rect">
            <a:avLst/>
          </a:prstGeom>
          <a:noFill/>
          <a:ln/>
        </p:spPr>
        <p:txBody>
          <a:bodyPr wrap="square" lIns="0" tIns="0" rIns="0" bIns="0" rtlCol="0" anchor="ctr"/>
          <a:lstStyle/>
          <a:p>
            <a:pPr indent="0" marL="0">
              <a:lnSpc>
                <a:spcPct val="128000"/>
              </a:lnSpc>
              <a:spcAft>
                <a:spcPts val="1200"/>
              </a:spcAft>
              <a:buNone/>
            </a:pPr>
            <a:r>
              <a:rPr lang="en-US" sz="1450" b="1" dirty="0">
                <a:solidFill>
                  <a:srgbClr val="0B0B0B"/>
                </a:solidFill>
                <a:latin typeface="Calibri" pitchFamily="34" charset="0"/>
                <a:ea typeface="Calibri" pitchFamily="34" charset="-122"/>
                <a:cs typeface="Calibri" pitchFamily="34" charset="-120"/>
              </a:rPr>
              <a:t>The headline fact: </a:t>
            </a:r>
            <a:pPr indent="0" marL="0">
              <a:lnSpc>
                <a:spcPct val="128000"/>
              </a:lnSpc>
              <a:spcAft>
                <a:spcPts val="1200"/>
              </a:spcAft>
              <a:buNone/>
            </a:pPr>
            <a:r>
              <a:rPr lang="en-US" sz="1450" dirty="0">
                <a:solidFill>
                  <a:srgbClr val="52514E"/>
                </a:solidFill>
                <a:latin typeface="Calibri" pitchFamily="34" charset="0"/>
                <a:ea typeface="Calibri" pitchFamily="34" charset="-122"/>
                <a:cs typeface="Calibri" pitchFamily="34" charset="-120"/>
              </a:rPr>
              <a:t>on July 2, 2023, the day before the gallium announcement, the completed pool's top ten holds eight heavy rare earths, synthetic diamond (#7), and yttrium — nine picks, all restricted in 2025, 21–27 months later. Rank 9 is wollastonite, the one false light.
</a:t>
            </a:r>
            <a:endParaRPr lang="en-US" sz="1450" dirty="0"/>
          </a:p>
          <a:p>
            <a:pPr indent="0" marL="0">
              <a:lnSpc>
                <a:spcPct val="128000"/>
              </a:lnSpc>
              <a:spcAft>
                <a:spcPts val="1200"/>
              </a:spcAft>
              <a:buNone/>
            </a:pPr>
            <a:r>
              <a:rPr lang="en-US" sz="1450" b="1" dirty="0">
                <a:solidFill>
                  <a:srgbClr val="0B0B0B"/>
                </a:solidFill>
                <a:latin typeface="Calibri" pitchFamily="34" charset="0"/>
                <a:ea typeface="Calibri" pitchFamily="34" charset="-122"/>
                <a:cs typeface="Calibri" pitchFamily="34" charset="-120"/>
              </a:rPr>
              <a:t>Where common sense bet wrong, the engine bet right: </a:t>
            </a:r>
            <a:pPr indent="0" marL="0">
              <a:lnSpc>
                <a:spcPct val="128000"/>
              </a:lnSpc>
              <a:spcAft>
                <a:spcPts val="1200"/>
              </a:spcAft>
              <a:buNone/>
            </a:pPr>
            <a:r>
              <a:rPr lang="en-US" sz="1450" dirty="0">
                <a:solidFill>
                  <a:srgbClr val="52514E"/>
                </a:solidFill>
                <a:latin typeface="Calibri" pitchFamily="34" charset="0"/>
                <a:ea typeface="Calibri" pitchFamily="34" charset="-122"/>
                <a:cs typeface="Calibri" pitchFamily="34" charset="-120"/>
              </a:rPr>
              <a:t>the neodymium and praseodymium everyone talks about never made the top ten, and remain unrestricted. Bismuth (68 pre-control articles) and tellurium (32) ranked and were later restricted.
</a:t>
            </a:r>
            <a:endParaRPr lang="en-US" sz="1450" dirty="0"/>
          </a:p>
          <a:p>
            <a:pPr indent="0" marL="0">
              <a:lnSpc>
                <a:spcPct val="128000"/>
              </a:lnSpc>
              <a:spcAft>
                <a:spcPts val="1200"/>
              </a:spcAft>
              <a:buNone/>
            </a:pPr>
            <a:r>
              <a:rPr lang="en-US" sz="1450" b="1" dirty="0">
                <a:solidFill>
                  <a:srgbClr val="0B0B0B"/>
                </a:solidFill>
                <a:latin typeface="Calibri" pitchFamily="34" charset="0"/>
                <a:ea typeface="Calibri" pitchFamily="34" charset="-122"/>
                <a:cs typeface="Calibri" pitchFamily="34" charset="-120"/>
              </a:rPr>
              <a:t>Misses are diagnosable, bets are public: </a:t>
            </a:r>
            <a:pPr indent="0" marL="0">
              <a:lnSpc>
                <a:spcPct val="128000"/>
              </a:lnSpc>
              <a:spcAft>
                <a:spcPts val="1200"/>
              </a:spcAft>
              <a:buNone/>
            </a:pPr>
            <a:r>
              <a:rPr lang="en-US" sz="1450" dirty="0">
                <a:solidFill>
                  <a:srgbClr val="52514E"/>
                </a:solidFill>
                <a:latin typeface="Calibri" pitchFamily="34" charset="0"/>
                <a:ea typeface="Calibri" pitchFamily="34" charset="-122"/>
                <a:cs typeface="Calibri" pitchFamily="34" charset="-120"/>
              </a:rPr>
              <a:t>graphite was not flagged (not latent), nor molybdenum (40% share). Fluorspar — repeatedly top-five, untouched — is the standing prediction; wollastonite is its falsifying twin: restricted, it becomes a hit; if fluorspar never is, the engine loses its bet. Both outcomes are written down.</a:t>
            </a:r>
            <a:endParaRPr lang="en-US" sz="1450" dirty="0"/>
          </a:p>
        </p:txBody>
      </p:sp>
      <p:sp>
        <p:nvSpPr>
          <p:cNvPr id="14" name="Text 12"/>
          <p:cNvSpPr/>
          <p:nvPr/>
        </p:nvSpPr>
        <p:spPr>
          <a:xfrm>
            <a:off x="548640" y="6473952"/>
            <a:ext cx="11064240" cy="320040"/>
          </a:xfrm>
          <a:prstGeom prst="rect">
            <a:avLst/>
          </a:prstGeom>
          <a:noFill/>
          <a:ln/>
        </p:spPr>
        <p:txBody>
          <a:bodyPr wrap="square" lIns="0" tIns="0" rIns="0" bIns="0" rtlCol="0" anchor="ctr"/>
          <a:lstStyle/>
          <a:p>
            <a:pPr indent="0" marL="0">
              <a:buNone/>
            </a:pPr>
            <a:r>
              <a:rPr lang="en-US" sz="800" dirty="0">
                <a:solidFill>
                  <a:srgbClr val="898781"/>
                </a:solidFill>
                <a:latin typeface="Calibri" pitchFamily="34" charset="0"/>
                <a:ea typeface="Calibri" pitchFamily="34" charset="-122"/>
                <a:cs typeface="Calibri" pitchFamily="34" charset="-120"/>
              </a:rPr>
              <a:t>Diamond re-pulled with the corrected term (24-month counts 32–48 vs 3–4 before): it drops from #1 to #7 but stays in every top ten; all hit counts unchanged. Ground truth: MOFCOM announcements; hypergeometric exact tests.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74320"/>
          </a:xfrm>
          <a:prstGeom prst="rect">
            <a:avLst/>
          </a:prstGeom>
          <a:noFill/>
          <a:ln/>
        </p:spPr>
        <p:txBody>
          <a:bodyPr wrap="square" lIns="0" tIns="0" rIns="0" bIns="0" rtlCol="0" anchor="ctr"/>
          <a:lstStyle/>
          <a:p>
            <a:pPr indent="0" marL="0">
              <a:buNone/>
            </a:pPr>
            <a:r>
              <a:rPr lang="en-US" sz="1200" b="1" spc="200" kern="0" dirty="0">
                <a:solidFill>
                  <a:srgbClr val="2A78D6"/>
                </a:solidFill>
                <a:latin typeface="Calibri" pitchFamily="34" charset="0"/>
                <a:ea typeface="Calibri" pitchFamily="34" charset="-122"/>
                <a:cs typeface="Calibri" pitchFamily="34" charset="-120"/>
              </a:rPr>
              <a:t>MAP TEST · PAIRWISE, ON MATCHED POOLS</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H2a · What the ablation can and cannot show</a:t>
            </a:r>
            <a:endParaRPr lang="en-US" sz="2800" dirty="0"/>
          </a:p>
        </p:txBody>
      </p:sp>
      <p:graphicFrame>
        <p:nvGraphicFramePr>
          <p:cNvPr id="4" name="Chart 0" descr=""/>
          <p:cNvGraphicFramePr/>
          <p:nvPr/>
        </p:nvGraphicFramePr>
        <p:xfrm>
          <a:off x="548640" y="146304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858000" y="1554480"/>
            <a:ext cx="4800600" cy="4754880"/>
          </a:xfrm>
          <a:prstGeom prst="rect">
            <a:avLst/>
          </a:prstGeom>
          <a:noFill/>
          <a:ln/>
        </p:spPr>
        <p:txBody>
          <a:bodyPr wrap="square" lIns="0" tIns="0" rIns="0" bIns="0" rtlCol="0" anchor="ctr"/>
          <a:lstStyle/>
          <a:p>
            <a:pPr indent="0" marL="0">
              <a:lnSpc>
                <a:spcPct val="122000"/>
              </a:lnSpc>
              <a:spcAft>
                <a:spcPts val="1000"/>
              </a:spcAft>
              <a:buNone/>
            </a:pPr>
            <a:r>
              <a:rPr lang="en-US" sz="1200" b="1" dirty="0">
                <a:solidFill>
                  <a:srgbClr val="0B0B0B"/>
                </a:solidFill>
                <a:latin typeface="Calibri" pitchFamily="34" charset="0"/>
                <a:ea typeface="Calibri" pitchFamily="34" charset="-122"/>
                <a:cs typeface="Calibri" pitchFamily="34" charset="-120"/>
              </a:rPr>
              <a:t>On raw precision, precise share alone now edges the product by one. </a:t>
            </a:r>
            <a:pPr indent="0" marL="0">
              <a:lnSpc>
                <a:spcPct val="122000"/>
              </a:lnSpc>
              <a:spcAft>
                <a:spcPts val="1000"/>
              </a:spcAft>
              <a:buNone/>
            </a:pPr>
            <a:r>
              <a:rPr lang="en-US" sz="1200" dirty="0">
                <a:solidFill>
                  <a:srgbClr val="52514E"/>
                </a:solidFill>
                <a:latin typeface="Calibri" pitchFamily="34" charset="0"/>
                <a:ea typeface="Calibri" pitchFamily="34" charset="-122"/>
                <a:cs typeface="Calibri" pitchFamily="34" charset="-120"/>
              </a:rPr>
              <a:t>Reported as is. The factors are collinear inside the rare-earth cluster; H2a cannot separate them — H2b does.
</a:t>
            </a:r>
            <a:endParaRPr lang="en-US" sz="1200" dirty="0"/>
          </a:p>
          <a:p>
            <a:pPr indent="0" marL="0">
              <a:lnSpc>
                <a:spcPct val="122000"/>
              </a:lnSpc>
              <a:spcAft>
                <a:spcPts val="1000"/>
              </a:spcAft>
              <a:buNone/>
            </a:pPr>
            <a:r>
              <a:rPr lang="en-US" sz="1200" b="1" dirty="0">
                <a:solidFill>
                  <a:srgbClr val="0B0B0B"/>
                </a:solidFill>
                <a:latin typeface="Calibri" pitchFamily="34" charset="0"/>
                <a:ea typeface="Calibri" pitchFamily="34" charset="-122"/>
                <a:cs typeface="Calibri" pitchFamily="34" charset="-120"/>
              </a:rPr>
              <a:t>What the product buys in H2a: </a:t>
            </a:r>
            <a:pPr indent="0" marL="0">
              <a:lnSpc>
                <a:spcPct val="122000"/>
              </a:lnSpc>
              <a:spcAft>
                <a:spcPts val="1000"/>
              </a:spcAft>
              <a:buNone/>
            </a:pPr>
            <a:r>
              <a:rPr lang="en-US" sz="1200" dirty="0">
                <a:solidFill>
                  <a:srgbClr val="52514E"/>
                </a:solidFill>
                <a:latin typeface="Calibri" pitchFamily="34" charset="0"/>
                <a:ea typeface="Calibri" pitchFamily="34" charset="-122"/>
                <a:cs typeface="Calibri" pitchFamily="34" charset="-120"/>
              </a:rPr>
              <a:t>ranking quality — the product puts diamond at #7 (share alone leaves it 13th) — and robustness: on coarse group-level shares the product holds 7/10 while share alone falls to 5/10.
</a:t>
            </a:r>
            <a:endParaRPr lang="en-US" sz="1200" dirty="0"/>
          </a:p>
          <a:p>
            <a:pPr indent="0" marL="0">
              <a:lnSpc>
                <a:spcPct val="122000"/>
              </a:lnSpc>
              <a:spcAft>
                <a:spcPts val="1000"/>
              </a:spcAft>
              <a:buNone/>
            </a:pPr>
            <a:r>
              <a:rPr lang="en-US" sz="1200" b="1" dirty="0">
                <a:solidFill>
                  <a:srgbClr val="0B0B0B"/>
                </a:solidFill>
                <a:latin typeface="Calibri" pitchFamily="34" charset="0"/>
                <a:ea typeface="Calibri" pitchFamily="34" charset="-122"/>
                <a:cs typeface="Calibri" pitchFamily="34" charset="-120"/>
              </a:rPr>
              <a:t>Invisibility alone → 4/10: </a:t>
            </a:r>
            <a:pPr indent="0" marL="0">
              <a:lnSpc>
                <a:spcPct val="122000"/>
              </a:lnSpc>
              <a:spcAft>
                <a:spcPts val="1000"/>
              </a:spcAft>
              <a:buNone/>
            </a:pPr>
            <a:r>
              <a:rPr lang="en-US" sz="1200" dirty="0">
                <a:solidFill>
                  <a:srgbClr val="52514E"/>
                </a:solidFill>
                <a:latin typeface="Calibri" pitchFamily="34" charset="0"/>
                <a:ea typeface="Calibri" pitchFamily="34" charset="-122"/>
                <a:cs typeface="Calibri" pitchFamily="34" charset="-120"/>
              </a:rPr>
              <a:t>materially worse; darkness without a stake is mostly dust.
</a:t>
            </a:r>
            <a:endParaRPr lang="en-US" sz="1200" dirty="0"/>
          </a:p>
          <a:p>
            <a:pPr indent="0" marL="0">
              <a:lnSpc>
                <a:spcPct val="122000"/>
              </a:lnSpc>
              <a:spcAft>
                <a:spcPts val="1000"/>
              </a:spcAft>
              <a:buNone/>
            </a:pPr>
            <a:r>
              <a:rPr lang="en-US" sz="1200" b="1" dirty="0">
                <a:solidFill>
                  <a:srgbClr val="0B0B0B"/>
                </a:solidFill>
                <a:latin typeface="Calibri" pitchFamily="34" charset="0"/>
                <a:ea typeface="Calibri" pitchFamily="34" charset="-122"/>
                <a:cs typeface="Calibri" pitchFamily="34" charset="-120"/>
              </a:rPr>
              <a:t>USGS score only → 2/10: </a:t>
            </a:r>
            <a:pPr indent="0" marL="0">
              <a:lnSpc>
                <a:spcPct val="122000"/>
              </a:lnSpc>
              <a:spcAft>
                <a:spcPts val="1000"/>
              </a:spcAft>
              <a:buNone/>
            </a:pPr>
            <a:r>
              <a:rPr lang="en-US" sz="1200" dirty="0">
                <a:solidFill>
                  <a:srgbClr val="52514E"/>
                </a:solidFill>
                <a:latin typeface="Calibri" pitchFamily="34" charset="0"/>
                <a:ea typeface="Calibri" pitchFamily="34" charset="-122"/>
                <a:cs typeface="Calibri" pitchFamily="34" charset="-120"/>
              </a:rPr>
              <a:t>a different ruler rather than an ablation; it picks niobium, cobalt, tantalum — Washington's worries, not Beijing's cards.</a:t>
            </a:r>
            <a:endParaRPr lang="en-US" sz="1200" dirty="0"/>
          </a:p>
        </p:txBody>
      </p:sp>
      <p:sp>
        <p:nvSpPr>
          <p:cNvPr id="6" name="Text 3"/>
          <p:cNvSpPr/>
          <p:nvPr/>
        </p:nvSpPr>
        <p:spPr>
          <a:xfrm>
            <a:off x="548640" y="6035040"/>
            <a:ext cx="6035040" cy="411480"/>
          </a:xfrm>
          <a:prstGeom prst="rect">
            <a:avLst/>
          </a:prstGeom>
          <a:noFill/>
          <a:ln/>
        </p:spPr>
        <p:txBody>
          <a:bodyPr wrap="square" lIns="0" tIns="0" rIns="0" bIns="0" rtlCol="0" anchor="ctr"/>
          <a:lstStyle/>
          <a:p>
            <a:pPr indent="0" marL="0">
              <a:buNone/>
            </a:pPr>
            <a:r>
              <a:rPr lang="en-US" sz="850" dirty="0">
                <a:solidFill>
                  <a:srgbClr val="898781"/>
                </a:solidFill>
                <a:latin typeface="Calibri" pitchFamily="34" charset="0"/>
                <a:ea typeface="Calibri" pitchFamily="34" charset="-122"/>
                <a:cs typeface="Calibri" pitchFamily="34" charset="-120"/>
              </a:rPr>
              <a:t>All specifications ranked on the matched completed pool (exam A; n stated per bar). Earlier unmatched-pool and 57-row figures are superseded and archived.</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74320"/>
          </a:xfrm>
          <a:prstGeom prst="rect">
            <a:avLst/>
          </a:prstGeom>
          <a:noFill/>
          <a:ln/>
        </p:spPr>
        <p:txBody>
          <a:bodyPr wrap="square" lIns="0" tIns="0" rIns="0" bIns="0" rtlCol="0" anchor="ctr"/>
          <a:lstStyle/>
          <a:p>
            <a:pPr indent="0" marL="0">
              <a:buNone/>
            </a:pPr>
            <a:r>
              <a:rPr lang="en-US" sz="1200" b="1" spc="200" kern="0" dirty="0">
                <a:solidFill>
                  <a:srgbClr val="2A78D6"/>
                </a:solidFill>
                <a:latin typeface="Calibri" pitchFamily="34" charset="0"/>
                <a:ea typeface="Calibri" pitchFamily="34" charset="-122"/>
                <a:cs typeface="Calibri" pitchFamily="34" charset="-120"/>
              </a:rPr>
              <a:t>AWAKENING TEST · DESIGN</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H2b · The awakening test: same controls, darker beforehand, louder bang?</a:t>
            </a:r>
            <a:endParaRPr lang="en-US" sz="2800" dirty="0"/>
          </a:p>
        </p:txBody>
      </p:sp>
      <p:sp>
        <p:nvSpPr>
          <p:cNvPr id="4" name="Shape 2"/>
          <p:cNvSpPr/>
          <p:nvPr/>
        </p:nvSpPr>
        <p:spPr>
          <a:xfrm>
            <a:off x="548640" y="1463040"/>
            <a:ext cx="11064240" cy="969264"/>
          </a:xfrm>
          <a:prstGeom prst="roundRect">
            <a:avLst>
              <a:gd name="adj" fmla="val 7547"/>
            </a:avLst>
          </a:prstGeom>
          <a:solidFill>
            <a:srgbClr val="F4F6FA"/>
          </a:solidFill>
          <a:ln/>
        </p:spPr>
      </p:sp>
      <p:sp>
        <p:nvSpPr>
          <p:cNvPr id="5" name="Text 3"/>
          <p:cNvSpPr/>
          <p:nvPr/>
        </p:nvSpPr>
        <p:spPr>
          <a:xfrm>
            <a:off x="777240" y="1581912"/>
            <a:ext cx="2377440" cy="731520"/>
          </a:xfrm>
          <a:prstGeom prst="rect">
            <a:avLst/>
          </a:prstGeom>
          <a:noFill/>
          <a:ln/>
        </p:spPr>
        <p:txBody>
          <a:bodyPr wrap="square" lIns="0" tIns="0" rIns="0" bIns="0" rtlCol="0" anchor="ctr"/>
          <a:lstStyle/>
          <a:p>
            <a:pPr indent="0" marL="0">
              <a:buNone/>
            </a:pPr>
            <a:r>
              <a:rPr lang="en-US" sz="1600" b="1" dirty="0">
                <a:solidFill>
                  <a:srgbClr val="2A78D6"/>
                </a:solidFill>
                <a:latin typeface="Calibri" pitchFamily="34" charset="0"/>
                <a:ea typeface="Calibri" pitchFamily="34" charset="-122"/>
                <a:cs typeface="Calibri" pitchFamily="34" charset="-120"/>
              </a:rPr>
              <a:t>Attention jump</a:t>
            </a:r>
            <a:endParaRPr lang="en-US" sz="1600" dirty="0"/>
          </a:p>
        </p:txBody>
      </p:sp>
      <p:sp>
        <p:nvSpPr>
          <p:cNvPr id="6" name="Text 4"/>
          <p:cNvSpPr/>
          <p:nvPr/>
        </p:nvSpPr>
        <p:spPr>
          <a:xfrm>
            <a:off x="3246120" y="1581912"/>
            <a:ext cx="8183880" cy="777240"/>
          </a:xfrm>
          <a:prstGeom prst="rect">
            <a:avLst/>
          </a:prstGeom>
          <a:noFill/>
          <a:ln/>
        </p:spPr>
        <p:txBody>
          <a:bodyPr wrap="square" lIns="0" tIns="0" rIns="0" bIns="0" rtlCol="0" anchor="ctr"/>
          <a:lstStyle/>
          <a:p>
            <a:pPr indent="0" marL="0">
              <a:lnSpc>
                <a:spcPct val="115000"/>
              </a:lnSpc>
              <a:buNone/>
            </a:pPr>
            <a:r>
              <a:rPr lang="en-US" sz="1250" dirty="0">
                <a:solidFill>
                  <a:srgbClr val="52514E"/>
                </a:solidFill>
                <a:latin typeface="Calibri" pitchFamily="34" charset="0"/>
                <a:ea typeface="Calibri" pitchFamily="34" charset="-122"/>
                <a:cs typeface="Calibri" pitchFamily="34" charset="-120"/>
              </a:rPr>
              <a:t>context news in the 30 days after the announcement, over the pre-event monthly average. Covers all 21 restricted commodities, including those with no traded price, plus 58 placebos. (Media Cloud)</a:t>
            </a:r>
            <a:endParaRPr lang="en-US" sz="1250" dirty="0"/>
          </a:p>
        </p:txBody>
      </p:sp>
      <p:sp>
        <p:nvSpPr>
          <p:cNvPr id="7" name="Shape 5"/>
          <p:cNvSpPr/>
          <p:nvPr/>
        </p:nvSpPr>
        <p:spPr>
          <a:xfrm>
            <a:off x="548640" y="2596896"/>
            <a:ext cx="11064240" cy="969264"/>
          </a:xfrm>
          <a:prstGeom prst="roundRect">
            <a:avLst>
              <a:gd name="adj" fmla="val 7547"/>
            </a:avLst>
          </a:prstGeom>
          <a:solidFill>
            <a:srgbClr val="F4F6FA"/>
          </a:solidFill>
          <a:ln/>
        </p:spPr>
      </p:sp>
      <p:sp>
        <p:nvSpPr>
          <p:cNvPr id="8" name="Text 6"/>
          <p:cNvSpPr/>
          <p:nvPr/>
        </p:nvSpPr>
        <p:spPr>
          <a:xfrm>
            <a:off x="777240" y="2715768"/>
            <a:ext cx="2377440" cy="731520"/>
          </a:xfrm>
          <a:prstGeom prst="rect">
            <a:avLst/>
          </a:prstGeom>
          <a:noFill/>
          <a:ln/>
        </p:spPr>
        <p:txBody>
          <a:bodyPr wrap="square" lIns="0" tIns="0" rIns="0" bIns="0" rtlCol="0" anchor="ctr"/>
          <a:lstStyle/>
          <a:p>
            <a:pPr indent="0" marL="0">
              <a:buNone/>
            </a:pPr>
            <a:r>
              <a:rPr lang="en-US" sz="1600" b="1" dirty="0">
                <a:solidFill>
                  <a:srgbClr val="EB6834"/>
                </a:solidFill>
                <a:latin typeface="Calibri" pitchFamily="34" charset="0"/>
                <a:ea typeface="Calibri" pitchFamily="34" charset="-122"/>
                <a:cs typeface="Calibri" pitchFamily="34" charset="-120"/>
              </a:rPr>
              <a:t>Stock CAR</a:t>
            </a:r>
            <a:endParaRPr lang="en-US" sz="1600" dirty="0"/>
          </a:p>
        </p:txBody>
      </p:sp>
      <p:sp>
        <p:nvSpPr>
          <p:cNvPr id="9" name="Text 7"/>
          <p:cNvSpPr/>
          <p:nvPr/>
        </p:nvSpPr>
        <p:spPr>
          <a:xfrm>
            <a:off x="3246120" y="2715768"/>
            <a:ext cx="8183880" cy="777240"/>
          </a:xfrm>
          <a:prstGeom prst="rect">
            <a:avLst/>
          </a:prstGeom>
          <a:noFill/>
          <a:ln/>
        </p:spPr>
        <p:txBody>
          <a:bodyPr wrap="square" lIns="0" tIns="0" rIns="0" bIns="0" rtlCol="0" anchor="ctr"/>
          <a:lstStyle/>
          <a:p>
            <a:pPr indent="0" marL="0">
              <a:lnSpc>
                <a:spcPct val="115000"/>
              </a:lnSpc>
              <a:buNone/>
            </a:pPr>
            <a:r>
              <a:rPr lang="en-US" sz="1250" dirty="0">
                <a:solidFill>
                  <a:srgbClr val="52514E"/>
                </a:solidFill>
                <a:latin typeface="Calibri" pitchFamily="34" charset="0"/>
                <a:ea typeface="Calibri" pitchFamily="34" charset="-122"/>
                <a:cs typeface="Calibri" pitchFamily="34" charset="-120"/>
              </a:rPr>
              <a:t>5-day abnormal return of pure-exposure A-share names against the CSI 300; 24 ticker-events. (exchange daily quotes)</a:t>
            </a:r>
            <a:endParaRPr lang="en-US" sz="1250" dirty="0"/>
          </a:p>
        </p:txBody>
      </p:sp>
      <p:sp>
        <p:nvSpPr>
          <p:cNvPr id="10" name="Shape 8"/>
          <p:cNvSpPr/>
          <p:nvPr/>
        </p:nvSpPr>
        <p:spPr>
          <a:xfrm>
            <a:off x="548640" y="3730752"/>
            <a:ext cx="11064240" cy="969264"/>
          </a:xfrm>
          <a:prstGeom prst="roundRect">
            <a:avLst>
              <a:gd name="adj" fmla="val 7547"/>
            </a:avLst>
          </a:prstGeom>
          <a:solidFill>
            <a:srgbClr val="F4F6FA"/>
          </a:solidFill>
          <a:ln/>
        </p:spPr>
      </p:sp>
      <p:sp>
        <p:nvSpPr>
          <p:cNvPr id="11" name="Text 9"/>
          <p:cNvSpPr/>
          <p:nvPr/>
        </p:nvSpPr>
        <p:spPr>
          <a:xfrm>
            <a:off x="777240" y="3849624"/>
            <a:ext cx="2377440" cy="731520"/>
          </a:xfrm>
          <a:prstGeom prst="rect">
            <a:avLst/>
          </a:prstGeom>
          <a:noFill/>
          <a:ln/>
        </p:spPr>
        <p:txBody>
          <a:bodyPr wrap="square" lIns="0" tIns="0" rIns="0" bIns="0" rtlCol="0" anchor="ctr"/>
          <a:lstStyle/>
          <a:p>
            <a:pPr indent="0" marL="0">
              <a:buNone/>
            </a:pPr>
            <a:r>
              <a:rPr lang="en-US" sz="1600" b="1" dirty="0">
                <a:solidFill>
                  <a:srgbClr val="1BAF7A"/>
                </a:solidFill>
                <a:latin typeface="Calibri" pitchFamily="34" charset="0"/>
                <a:ea typeface="Calibri" pitchFamily="34" charset="-122"/>
                <a:cs typeface="Calibri" pitchFamily="34" charset="-120"/>
              </a:rPr>
              <a:t>Commodity price</a:t>
            </a:r>
            <a:endParaRPr lang="en-US" sz="1600" dirty="0"/>
          </a:p>
        </p:txBody>
      </p:sp>
      <p:sp>
        <p:nvSpPr>
          <p:cNvPr id="12" name="Text 10"/>
          <p:cNvSpPr/>
          <p:nvPr/>
        </p:nvSpPr>
        <p:spPr>
          <a:xfrm>
            <a:off x="3246120" y="3849624"/>
            <a:ext cx="8183880" cy="777240"/>
          </a:xfrm>
          <a:prstGeom prst="rect">
            <a:avLst/>
          </a:prstGeom>
          <a:noFill/>
          <a:ln/>
        </p:spPr>
        <p:txBody>
          <a:bodyPr wrap="square" lIns="0" tIns="0" rIns="0" bIns="0" rtlCol="0" anchor="ctr"/>
          <a:lstStyle/>
          <a:p>
            <a:pPr indent="0" marL="0">
              <a:lnSpc>
                <a:spcPct val="115000"/>
              </a:lnSpc>
              <a:buNone/>
            </a:pPr>
            <a:r>
              <a:rPr lang="en-US" sz="1250" dirty="0">
                <a:solidFill>
                  <a:srgbClr val="52514E"/>
                </a:solidFill>
                <a:latin typeface="Calibri" pitchFamily="34" charset="0"/>
                <a:ea typeface="Calibri" pitchFamily="34" charset="-122"/>
                <a:cs typeface="Calibri" pitchFamily="34" charset="-120"/>
              </a:rPr>
              <a:t>offshore price change after the announcement. The domestic price falls when exports are blocked, so the onshore-offshore gap is the power reading. One-month and longest windows. (Benchmark Mineral Intelligence; archived trade quotes, point-level sourcing on file)</a:t>
            </a:r>
            <a:endParaRPr lang="en-US" sz="1250" dirty="0"/>
          </a:p>
        </p:txBody>
      </p:sp>
      <p:sp>
        <p:nvSpPr>
          <p:cNvPr id="13" name="Text 11"/>
          <p:cNvSpPr/>
          <p:nvPr/>
        </p:nvSpPr>
        <p:spPr>
          <a:xfrm>
            <a:off x="548640" y="4983480"/>
            <a:ext cx="11064240" cy="1463040"/>
          </a:xfrm>
          <a:prstGeom prst="rect">
            <a:avLst/>
          </a:prstGeom>
          <a:noFill/>
          <a:ln/>
        </p:spPr>
        <p:txBody>
          <a:bodyPr wrap="square" lIns="0" tIns="0" rIns="0" bIns="0" rtlCol="0" anchor="ctr"/>
          <a:lstStyle/>
          <a:p>
            <a:pPr indent="0" marL="0">
              <a:lnSpc>
                <a:spcPct val="125000"/>
              </a:lnSpc>
              <a:spcAft>
                <a:spcPts val="800"/>
              </a:spcAft>
              <a:buNone/>
            </a:pPr>
            <a:r>
              <a:rPr lang="en-US" sz="1300" b="1" dirty="0">
                <a:solidFill>
                  <a:srgbClr val="0B0B0B"/>
                </a:solidFill>
                <a:latin typeface="Calibri" pitchFamily="34" charset="0"/>
                <a:ea typeface="Calibri" pitchFamily="34" charset="-122"/>
                <a:cs typeface="Calibri" pitchFamily="34" charset="-120"/>
              </a:rPr>
              <a:t>Two instrument calibrations (kept in the methods notes):</a:t>
            </a:r>
            <a:endParaRPr lang="en-US" sz="1300" dirty="0"/>
          </a:p>
          <a:p>
            <a:pPr marL="342900" indent="-342900">
              <a:lnSpc>
                <a:spcPct val="125000"/>
              </a:lnSpc>
              <a:spcAft>
                <a:spcPts val="800"/>
              </a:spcAft>
              <a:buSzPct val="100000"/>
              <a:buChar char="•"/>
            </a:pPr>
            <a:r>
              <a:rPr lang="en-US" sz="1300" dirty="0">
                <a:solidFill>
                  <a:srgbClr val="52514E"/>
                </a:solidFill>
                <a:latin typeface="Calibri" pitchFamily="34" charset="0"/>
                <a:ea typeface="Calibri" pitchFamily="34" charset="-122"/>
                <a:cs typeface="Calibri" pitchFamily="34" charset="-120"/>
              </a:rPr>
              <a:t>Placebos: a fixed-seed draw of 20 never-restricted commodities, same windows, same template. Median ×1.26 — announcement months do not lift news across the board.</a:t>
            </a:r>
            <a:endParaRPr lang="en-US" sz="1300" dirty="0"/>
          </a:p>
          <a:p>
            <a:pPr marL="342900" indent="-342900">
              <a:lnSpc>
                <a:spcPct val="125000"/>
              </a:lnSpc>
              <a:spcAft>
                <a:spcPts val="800"/>
              </a:spcAft>
              <a:buSzPct val="100000"/>
              <a:buChar char="•"/>
            </a:pPr>
            <a:r>
              <a:rPr lang="en-US" sz="1300" dirty="0">
                <a:solidFill>
                  <a:srgbClr val="52514E"/>
                </a:solidFill>
                <a:latin typeface="Calibri" pitchFamily="34" charset="0"/>
                <a:ea typeface="Calibri" pitchFamily="34" charset="-122"/>
                <a:cs typeface="Calibri" pitchFamily="34" charset="-120"/>
              </a:rPr>
              <a:t>Dark against dark: equally invisible commodities jump ×23.2 when restricted (n=17, diamond included) and ×1.03 when not. The multiples are not an artifact of small baselines.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74320"/>
          </a:xfrm>
          <a:prstGeom prst="rect">
            <a:avLst/>
          </a:prstGeom>
          <a:noFill/>
          <a:ln/>
        </p:spPr>
        <p:txBody>
          <a:bodyPr wrap="square" lIns="0" tIns="0" rIns="0" bIns="0" rtlCol="0" anchor="ctr"/>
          <a:lstStyle/>
          <a:p>
            <a:pPr indent="0" marL="0">
              <a:buNone/>
            </a:pPr>
            <a:r>
              <a:rPr lang="en-US" sz="1200" b="1" spc="200" kern="0" dirty="0">
                <a:solidFill>
                  <a:srgbClr val="2A78D6"/>
                </a:solidFill>
                <a:latin typeface="Calibri" pitchFamily="34" charset="0"/>
                <a:ea typeface="Calibri" pitchFamily="34" charset="-122"/>
                <a:cs typeface="Calibri" pitchFamily="34" charset="-120"/>
              </a:rPr>
              <a:t>AWAKENING TEST · DIVISION OF LABOR</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H2b · Results: the formula passes in its home domain</a:t>
            </a:r>
            <a:endParaRPr lang="en-US" sz="2800" dirty="0"/>
          </a:p>
        </p:txBody>
      </p:sp>
      <p:pic>
        <p:nvPicPr>
          <p:cNvPr id="4" name="Image 0" descr="img/fig5.png">    </p:cNvPr>
          <p:cNvPicPr>
            <a:picLocks noChangeAspect="1"/>
          </p:cNvPicPr>
          <p:nvPr/>
        </p:nvPicPr>
        <p:blipFill>
          <a:blip r:embed="rId1"/>
          <a:stretch>
            <a:fillRect/>
          </a:stretch>
        </p:blipFill>
        <p:spPr>
          <a:xfrm>
            <a:off x="1193146" y="1280160"/>
            <a:ext cx="5660427" cy="5303520"/>
          </a:xfrm>
          <a:prstGeom prst="rect">
            <a:avLst/>
          </a:prstGeom>
        </p:spPr>
      </p:pic>
      <p:sp>
        <p:nvSpPr>
          <p:cNvPr id="5" name="Shape 2"/>
          <p:cNvSpPr/>
          <p:nvPr/>
        </p:nvSpPr>
        <p:spPr>
          <a:xfrm>
            <a:off x="7863840" y="1417320"/>
            <a:ext cx="3749040" cy="1417320"/>
          </a:xfrm>
          <a:prstGeom prst="roundRect">
            <a:avLst>
              <a:gd name="adj" fmla="val 5161"/>
            </a:avLst>
          </a:prstGeom>
          <a:solidFill>
            <a:srgbClr val="F4F6FA"/>
          </a:solidFill>
          <a:ln/>
        </p:spPr>
      </p:sp>
      <p:sp>
        <p:nvSpPr>
          <p:cNvPr id="6" name="Text 3"/>
          <p:cNvSpPr/>
          <p:nvPr/>
        </p:nvSpPr>
        <p:spPr>
          <a:xfrm>
            <a:off x="8001000" y="1527048"/>
            <a:ext cx="3474720" cy="731520"/>
          </a:xfrm>
          <a:prstGeom prst="rect">
            <a:avLst/>
          </a:prstGeom>
          <a:noFill/>
          <a:ln/>
        </p:spPr>
        <p:txBody>
          <a:bodyPr wrap="square" lIns="0" tIns="0" rIns="0" bIns="0" rtlCol="0" anchor="ctr"/>
          <a:lstStyle/>
          <a:p>
            <a:pPr indent="0" marL="0">
              <a:buNone/>
            </a:pPr>
            <a:r>
              <a:rPr lang="en-US" sz="2800" b="1" dirty="0">
                <a:solidFill>
                  <a:srgbClr val="1BAF7A"/>
                </a:solidFill>
                <a:latin typeface="Calibri" pitchFamily="34" charset="0"/>
                <a:ea typeface="Calibri" pitchFamily="34" charset="-122"/>
                <a:cs typeface="Calibri" pitchFamily="34" charset="-120"/>
              </a:rPr>
              <a:t>ρ = 0.89</a:t>
            </a:r>
            <a:endParaRPr lang="en-US" sz="2800" dirty="0"/>
          </a:p>
        </p:txBody>
      </p:sp>
      <p:sp>
        <p:nvSpPr>
          <p:cNvPr id="7" name="Text 4"/>
          <p:cNvSpPr/>
          <p:nvPr/>
        </p:nvSpPr>
        <p:spPr>
          <a:xfrm>
            <a:off x="8001000" y="2221992"/>
            <a:ext cx="3474720" cy="5486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price intensity against criticality × unpreparedness (one-month window, p=0.0008); the product beats either factor alone</a:t>
            </a:r>
            <a:endParaRPr lang="en-US" sz="1100" dirty="0"/>
          </a:p>
        </p:txBody>
      </p:sp>
      <p:sp>
        <p:nvSpPr>
          <p:cNvPr id="8" name="Shape 5"/>
          <p:cNvSpPr/>
          <p:nvPr/>
        </p:nvSpPr>
        <p:spPr>
          <a:xfrm>
            <a:off x="7863840" y="2971800"/>
            <a:ext cx="3749040" cy="1417320"/>
          </a:xfrm>
          <a:prstGeom prst="roundRect">
            <a:avLst>
              <a:gd name="adj" fmla="val 5161"/>
            </a:avLst>
          </a:prstGeom>
          <a:solidFill>
            <a:srgbClr val="F4F6FA"/>
          </a:solidFill>
          <a:ln/>
        </p:spPr>
      </p:sp>
      <p:sp>
        <p:nvSpPr>
          <p:cNvPr id="9" name="Text 6"/>
          <p:cNvSpPr/>
          <p:nvPr/>
        </p:nvSpPr>
        <p:spPr>
          <a:xfrm>
            <a:off x="8001000" y="3081528"/>
            <a:ext cx="3474720" cy="731520"/>
          </a:xfrm>
          <a:prstGeom prst="rect">
            <a:avLst/>
          </a:prstGeom>
          <a:noFill/>
          <a:ln/>
        </p:spPr>
        <p:txBody>
          <a:bodyPr wrap="square" lIns="0" tIns="0" rIns="0" bIns="0" rtlCol="0" anchor="ctr"/>
          <a:lstStyle/>
          <a:p>
            <a:pPr indent="0" marL="0">
              <a:buNone/>
            </a:pPr>
            <a:r>
              <a:rPr lang="en-US" sz="2800" b="1" dirty="0">
                <a:solidFill>
                  <a:srgbClr val="2A78D6"/>
                </a:solidFill>
                <a:latin typeface="Calibri" pitchFamily="34" charset="0"/>
                <a:ea typeface="Calibri" pitchFamily="34" charset="-122"/>
                <a:cs typeface="Calibri" pitchFamily="34" charset="-120"/>
              </a:rPr>
              <a:t>×12.9 vs ×1.26</a:t>
            </a:r>
            <a:endParaRPr lang="en-US" sz="2800" dirty="0"/>
          </a:p>
        </p:txBody>
      </p:sp>
      <p:sp>
        <p:nvSpPr>
          <p:cNvPr id="10" name="Text 7"/>
          <p:cNvSpPr/>
          <p:nvPr/>
        </p:nvSpPr>
        <p:spPr>
          <a:xfrm>
            <a:off x="8001000" y="3776472"/>
            <a:ext cx="3474720" cy="5486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median attention jump, restricted commodities (n=22, diamond restored) against placebos (p&lt;0.00001); latent ×23.2 vs landmark ×4.8 (p=0.0065)</a:t>
            </a:r>
            <a:endParaRPr lang="en-US" sz="1100" dirty="0"/>
          </a:p>
        </p:txBody>
      </p:sp>
      <p:sp>
        <p:nvSpPr>
          <p:cNvPr id="11" name="Shape 8"/>
          <p:cNvSpPr/>
          <p:nvPr/>
        </p:nvSpPr>
        <p:spPr>
          <a:xfrm>
            <a:off x="7863840" y="4526280"/>
            <a:ext cx="3749040" cy="1417320"/>
          </a:xfrm>
          <a:prstGeom prst="roundRect">
            <a:avLst>
              <a:gd name="adj" fmla="val 5161"/>
            </a:avLst>
          </a:prstGeom>
          <a:solidFill>
            <a:srgbClr val="F4F6FA"/>
          </a:solidFill>
          <a:ln/>
        </p:spPr>
      </p:sp>
      <p:sp>
        <p:nvSpPr>
          <p:cNvPr id="12" name="Text 9"/>
          <p:cNvSpPr/>
          <p:nvPr/>
        </p:nvSpPr>
        <p:spPr>
          <a:xfrm>
            <a:off x="8001000" y="4636008"/>
            <a:ext cx="3474720" cy="731520"/>
          </a:xfrm>
          <a:prstGeom prst="rect">
            <a:avLst/>
          </a:prstGeom>
          <a:noFill/>
          <a:ln/>
        </p:spPr>
        <p:txBody>
          <a:bodyPr wrap="square" lIns="0" tIns="0" rIns="0" bIns="0" rtlCol="0" anchor="ctr"/>
          <a:lstStyle/>
          <a:p>
            <a:pPr indent="0" marL="0">
              <a:buNone/>
            </a:pPr>
            <a:r>
              <a:rPr lang="en-US" sz="2800" b="1" dirty="0">
                <a:solidFill>
                  <a:srgbClr val="EB6834"/>
                </a:solidFill>
                <a:latin typeface="Calibri" pitchFamily="34" charset="0"/>
                <a:ea typeface="Calibri" pitchFamily="34" charset="-122"/>
                <a:cs typeface="Calibri" pitchFamily="34" charset="-120"/>
              </a:rPr>
              <a:t>ρ = 0.54</a:t>
            </a:r>
            <a:endParaRPr lang="en-US" sz="2800" dirty="0"/>
          </a:p>
        </p:txBody>
      </p:sp>
      <p:sp>
        <p:nvSpPr>
          <p:cNvPr id="13" name="Text 10"/>
          <p:cNvSpPr/>
          <p:nvPr/>
        </p:nvSpPr>
        <p:spPr>
          <a:xfrm>
            <a:off x="8001000" y="5330952"/>
            <a:ext cx="3474720" cy="5486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stock abnormal returns against pre-event latency (p=0.004)</a:t>
            </a:r>
            <a:endParaRPr lang="en-US" sz="1100" dirty="0"/>
          </a:p>
        </p:txBody>
      </p:sp>
      <p:sp>
        <p:nvSpPr>
          <p:cNvPr id="14" name="Text 11"/>
          <p:cNvSpPr/>
          <p:nvPr/>
        </p:nvSpPr>
        <p:spPr>
          <a:xfrm>
            <a:off x="7863840" y="6080760"/>
            <a:ext cx="3749040" cy="502920"/>
          </a:xfrm>
          <a:prstGeom prst="rect">
            <a:avLst/>
          </a:prstGeom>
          <a:noFill/>
          <a:ln/>
        </p:spPr>
        <p:txBody>
          <a:bodyPr wrap="square" lIns="0" tIns="0" rIns="0" bIns="0" rtlCol="0" anchor="ctr"/>
          <a:lstStyle/>
          <a:p>
            <a:pPr indent="0" marL="0">
              <a:buNone/>
            </a:pPr>
            <a:r>
              <a:rPr lang="en-US" sz="850" dirty="0">
                <a:solidFill>
                  <a:srgbClr val="898781"/>
                </a:solidFill>
                <a:latin typeface="Calibri" pitchFamily="34" charset="0"/>
                <a:ea typeface="Calibri" pitchFamily="34" charset="-122"/>
                <a:cs typeface="Calibri" pitchFamily="34" charset="-120"/>
              </a:rPr>
              <a:t>Grid shown = n=21 sample. With diamond restored (n=22): attention column reads 0.66 / 0.09 n.s. / 0.36 (p=0.051) — both reported; other columns unchanged.</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74320"/>
          </a:xfrm>
          <a:prstGeom prst="rect">
            <a:avLst/>
          </a:prstGeom>
          <a:noFill/>
          <a:ln/>
        </p:spPr>
        <p:txBody>
          <a:bodyPr wrap="square" lIns="0" tIns="0" rIns="0" bIns="0" rtlCol="0" anchor="ctr"/>
          <a:lstStyle/>
          <a:p>
            <a:pPr indent="0" marL="0">
              <a:buNone/>
            </a:pPr>
            <a:r>
              <a:rPr lang="en-US" sz="1200" b="1" spc="200" kern="0" dirty="0">
                <a:solidFill>
                  <a:srgbClr val="2A78D6"/>
                </a:solidFill>
                <a:latin typeface="Calibri" pitchFamily="34" charset="0"/>
                <a:ea typeface="Calibri" pitchFamily="34" charset="-122"/>
                <a:cs typeface="Calibri" pitchFamily="34" charset="-120"/>
              </a:rPr>
              <a:t>AWAKENING TEST · CASES</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Two exhibits: the negative space, and instruments covering for each other</a:t>
            </a:r>
            <a:endParaRPr lang="en-US" sz="2800" dirty="0"/>
          </a:p>
        </p:txBody>
      </p:sp>
      <p:sp>
        <p:nvSpPr>
          <p:cNvPr id="4" name="Shape 2"/>
          <p:cNvSpPr/>
          <p:nvPr/>
        </p:nvSpPr>
        <p:spPr>
          <a:xfrm>
            <a:off x="548640" y="1463040"/>
            <a:ext cx="5440680" cy="4206240"/>
          </a:xfrm>
          <a:prstGeom prst="roundRect">
            <a:avLst>
              <a:gd name="adj" fmla="val 2174"/>
            </a:avLst>
          </a:prstGeom>
          <a:solidFill>
            <a:srgbClr val="F4F6FA"/>
          </a:solidFill>
          <a:ln/>
        </p:spPr>
      </p:sp>
      <p:sp>
        <p:nvSpPr>
          <p:cNvPr id="5" name="Text 3"/>
          <p:cNvSpPr/>
          <p:nvPr/>
        </p:nvSpPr>
        <p:spPr>
          <a:xfrm>
            <a:off x="822960" y="1691640"/>
            <a:ext cx="4937760" cy="457200"/>
          </a:xfrm>
          <a:prstGeom prst="rect">
            <a:avLst/>
          </a:prstGeom>
          <a:noFill/>
          <a:ln/>
        </p:spPr>
        <p:txBody>
          <a:bodyPr wrap="square" lIns="0" tIns="0" rIns="0" bIns="0" rtlCol="0" anchor="ctr"/>
          <a:lstStyle/>
          <a:p>
            <a:pPr indent="0" marL="0">
              <a:buNone/>
            </a:pPr>
            <a:r>
              <a:rPr lang="en-US" sz="1700" b="1" dirty="0">
                <a:solidFill>
                  <a:srgbClr val="2A78D6"/>
                </a:solidFill>
                <a:latin typeface="Calibri" pitchFamily="34" charset="0"/>
                <a:ea typeface="Calibri" pitchFamily="34" charset="-122"/>
                <a:cs typeface="Calibri" pitchFamily="34" charset="-120"/>
              </a:rPr>
              <a:t>Antimony: the card everyone saw coming</a:t>
            </a:r>
            <a:endParaRPr lang="en-US" sz="1700" dirty="0"/>
          </a:p>
        </p:txBody>
      </p:sp>
      <p:sp>
        <p:nvSpPr>
          <p:cNvPr id="6" name="Text 4"/>
          <p:cNvSpPr/>
          <p:nvPr/>
        </p:nvSpPr>
        <p:spPr>
          <a:xfrm>
            <a:off x="822960" y="2240280"/>
            <a:ext cx="4937760" cy="3291840"/>
          </a:xfrm>
          <a:prstGeom prst="rect">
            <a:avLst/>
          </a:prstGeom>
          <a:noFill/>
          <a:ln/>
        </p:spPr>
        <p:txBody>
          <a:bodyPr wrap="square" lIns="0" tIns="0" rIns="0" bIns="0" rtlCol="0" anchor="ctr"/>
          <a:lstStyle/>
          <a:p>
            <a:pPr indent="0" marL="0">
              <a:lnSpc>
                <a:spcPct val="125000"/>
              </a:lnSpc>
              <a:spcAft>
                <a:spcPts val="700"/>
              </a:spcAft>
              <a:buNone/>
            </a:pPr>
            <a:r>
              <a:rPr lang="en-US" sz="1300" dirty="0">
                <a:solidFill>
                  <a:srgbClr val="52514E"/>
                </a:solidFill>
                <a:latin typeface="Calibri" pitchFamily="34" charset="0"/>
                <a:ea typeface="Calibri" pitchFamily="34" charset="-122"/>
                <a:cs typeface="Calibri" pitchFamily="34" charset="-120"/>
              </a:rPr>
              <a:t>Its price had already risen 200% before the controls; one foot was in the landmark zone. When the controls landed:
</a:t>
            </a:r>
            <a:endParaRPr lang="en-US" sz="1300" dirty="0"/>
          </a:p>
          <a:p>
            <a:pPr marL="342900" indent="-342900">
              <a:lnSpc>
                <a:spcPct val="125000"/>
              </a:lnSpc>
              <a:spcAft>
                <a:spcPts val="700"/>
              </a:spcAft>
              <a:buSzPct val="100000"/>
              <a:buChar char="•"/>
            </a:pPr>
            <a:r>
              <a:rPr lang="en-US" sz="1300" dirty="0">
                <a:solidFill>
                  <a:srgbClr val="52514E"/>
                </a:solidFill>
                <a:latin typeface="Calibri" pitchFamily="34" charset="0"/>
                <a:ea typeface="Calibri" pitchFamily="34" charset="-122"/>
                <a:cs typeface="Calibri" pitchFamily="34" charset="-120"/>
              </a:rPr>
              <a:t>attention ×3.2, among the lowest in the target group</a:t>
            </a:r>
            <a:endParaRPr lang="en-US" sz="1300" dirty="0"/>
          </a:p>
          <a:p>
            <a:pPr marL="342900" indent="-342900">
              <a:lnSpc>
                <a:spcPct val="125000"/>
              </a:lnSpc>
              <a:spcAft>
                <a:spcPts val="700"/>
              </a:spcAft>
              <a:buSzPct val="100000"/>
              <a:buChar char="•"/>
            </a:pPr>
            <a:r>
              <a:rPr lang="en-US" sz="1300" dirty="0">
                <a:solidFill>
                  <a:srgbClr val="52514E"/>
                </a:solidFill>
                <a:latin typeface="Calibri" pitchFamily="34" charset="0"/>
                <a:ea typeface="Calibri" pitchFamily="34" charset="-122"/>
                <a:cs typeface="Calibri" pitchFamily="34" charset="-120"/>
              </a:rPr>
              <a:t>offshore price up just 12% in a month</a:t>
            </a:r>
            <a:endParaRPr lang="en-US" sz="1300" dirty="0"/>
          </a:p>
          <a:p>
            <a:pPr marL="342900" indent="-342900">
              <a:lnSpc>
                <a:spcPct val="125000"/>
              </a:lnSpc>
              <a:spcAft>
                <a:spcPts val="700"/>
              </a:spcAft>
              <a:buSzPct val="100000"/>
              <a:buChar char="•"/>
            </a:pPr>
            <a:r>
              <a:rPr lang="en-US" sz="1300" dirty="0">
                <a:solidFill>
                  <a:srgbClr val="52514E"/>
                </a:solidFill>
                <a:latin typeface="Calibri" pitchFamily="34" charset="0"/>
                <a:ea typeface="Calibri" pitchFamily="34" charset="-122"/>
                <a:cs typeface="Calibri" pitchFamily="34" charset="-120"/>
              </a:rPr>
              <a:t>antimony stocks opened at their peak and closed up under 2%</a:t>
            </a:r>
            <a:endParaRPr lang="en-US" sz="1300" dirty="0"/>
          </a:p>
          <a:p>
            <a:pPr indent="0" marL="0">
              <a:lnSpc>
                <a:spcPct val="125000"/>
              </a:lnSpc>
              <a:spcAft>
                <a:spcPts val="700"/>
              </a:spcAft>
              <a:buNone/>
            </a:pPr>
            <a:endParaRPr lang="en-US" sz="1300" dirty="0"/>
          </a:p>
          <a:p>
            <a:pPr indent="0" marL="0">
              <a:lnSpc>
                <a:spcPct val="125000"/>
              </a:lnSpc>
              <a:spcAft>
                <a:spcPts val="700"/>
              </a:spcAft>
              <a:buNone/>
            </a:pPr>
            <a:r>
              <a:rPr lang="en-US" sz="1300" b="1" dirty="0">
                <a:solidFill>
                  <a:srgbClr val="0B0B0B"/>
                </a:solidFill>
                <a:latin typeface="Calibri" pitchFamily="34" charset="0"/>
                <a:ea typeface="Calibri" pitchFamily="34" charset="-122"/>
                <a:cs typeface="Calibri" pitchFamily="34" charset="-120"/>
              </a:rPr>
              <a:t>All three instruments went quiet at once. Nothing was left to reveal, so nothing moved.</a:t>
            </a:r>
            <a:endParaRPr lang="en-US" sz="1300" dirty="0"/>
          </a:p>
        </p:txBody>
      </p:sp>
      <p:sp>
        <p:nvSpPr>
          <p:cNvPr id="7" name="Shape 5"/>
          <p:cNvSpPr/>
          <p:nvPr/>
        </p:nvSpPr>
        <p:spPr>
          <a:xfrm>
            <a:off x="6217920" y="1463040"/>
            <a:ext cx="5440680" cy="4206240"/>
          </a:xfrm>
          <a:prstGeom prst="roundRect">
            <a:avLst>
              <a:gd name="adj" fmla="val 2174"/>
            </a:avLst>
          </a:prstGeom>
          <a:solidFill>
            <a:srgbClr val="F4F6FA"/>
          </a:solidFill>
          <a:ln/>
        </p:spPr>
      </p:sp>
      <p:sp>
        <p:nvSpPr>
          <p:cNvPr id="8" name="Text 6"/>
          <p:cNvSpPr/>
          <p:nvPr/>
        </p:nvSpPr>
        <p:spPr>
          <a:xfrm>
            <a:off x="6492240" y="1691640"/>
            <a:ext cx="4937760" cy="457200"/>
          </a:xfrm>
          <a:prstGeom prst="rect">
            <a:avLst/>
          </a:prstGeom>
          <a:noFill/>
          <a:ln/>
        </p:spPr>
        <p:txBody>
          <a:bodyPr wrap="square" lIns="0" tIns="0" rIns="0" bIns="0" rtlCol="0" anchor="ctr"/>
          <a:lstStyle/>
          <a:p>
            <a:pPr indent="0" marL="0">
              <a:buNone/>
            </a:pPr>
            <a:r>
              <a:rPr lang="en-US" sz="1700" b="1" dirty="0">
                <a:solidFill>
                  <a:srgbClr val="EB6834"/>
                </a:solidFill>
                <a:latin typeface="Calibri" pitchFamily="34" charset="0"/>
                <a:ea typeface="Calibri" pitchFamily="34" charset="-122"/>
                <a:cs typeface="Calibri" pitchFamily="34" charset="-120"/>
              </a:rPr>
              <a:t>Diamond: the map flagged it, the news never did</a:t>
            </a:r>
            <a:endParaRPr lang="en-US" sz="1700" dirty="0"/>
          </a:p>
        </p:txBody>
      </p:sp>
      <p:sp>
        <p:nvSpPr>
          <p:cNvPr id="9" name="Text 7"/>
          <p:cNvSpPr/>
          <p:nvPr/>
        </p:nvSpPr>
        <p:spPr>
          <a:xfrm>
            <a:off x="6492240" y="2240280"/>
            <a:ext cx="4937760" cy="3291840"/>
          </a:xfrm>
          <a:prstGeom prst="rect">
            <a:avLst/>
          </a:prstGeom>
          <a:noFill/>
          <a:ln/>
        </p:spPr>
        <p:txBody>
          <a:bodyPr wrap="square" lIns="0" tIns="0" rIns="0" bIns="0" rtlCol="0" anchor="ctr"/>
          <a:lstStyle/>
          <a:p>
            <a:pPr indent="0" marL="0">
              <a:lnSpc>
                <a:spcPct val="125000"/>
              </a:lnSpc>
              <a:spcAft>
                <a:spcPts val="700"/>
              </a:spcAft>
              <a:buNone/>
            </a:pPr>
            <a:r>
              <a:rPr lang="en-US" sz="1300" dirty="0">
                <a:solidFill>
                  <a:srgbClr val="52514E"/>
                </a:solidFill>
                <a:latin typeface="Calibri" pitchFamily="34" charset="0"/>
                <a:ea typeface="Calibri" pitchFamily="34" charset="-122"/>
                <a:cs typeface="Calibri" pitchFamily="34" charset="-120"/>
              </a:rPr>
              <a:t>The completed pool flags synthetic diamond in every exam's top ten, 21–27 months before its October 2025 restriction. And when it hit:
</a:t>
            </a:r>
            <a:endParaRPr lang="en-US" sz="1300" dirty="0"/>
          </a:p>
          <a:p>
            <a:pPr marL="342900" indent="-342900">
              <a:lnSpc>
                <a:spcPct val="125000"/>
              </a:lnSpc>
              <a:spcAft>
                <a:spcPts val="700"/>
              </a:spcAft>
              <a:buSzPct val="100000"/>
              <a:buChar char="•"/>
            </a:pPr>
            <a:r>
              <a:rPr lang="en-US" sz="1300" dirty="0">
                <a:solidFill>
                  <a:srgbClr val="52514E"/>
                </a:solidFill>
                <a:latin typeface="Calibri" pitchFamily="34" charset="0"/>
                <a:ea typeface="Calibri" pitchFamily="34" charset="-122"/>
                <a:cs typeface="Calibri" pitchFamily="34" charset="-120"/>
              </a:rPr>
              <a:t>zero US articles in the 30 days after the announcement — even with the corrected search term; a real zero, not a vocabulary artifact</a:t>
            </a:r>
            <a:endParaRPr lang="en-US" sz="1300" dirty="0"/>
          </a:p>
          <a:p>
            <a:pPr marL="342900" indent="-342900">
              <a:lnSpc>
                <a:spcPct val="125000"/>
              </a:lnSpc>
              <a:spcAft>
                <a:spcPts val="700"/>
              </a:spcAft>
              <a:buSzPct val="100000"/>
              <a:buChar char="•"/>
            </a:pPr>
            <a:r>
              <a:rPr lang="en-US" sz="1300" dirty="0">
                <a:solidFill>
                  <a:srgbClr val="52514E"/>
                </a:solidFill>
                <a:latin typeface="Calibri" pitchFamily="34" charset="0"/>
                <a:ea typeface="Calibri" pitchFamily="34" charset="-122"/>
                <a:cs typeface="Calibri" pitchFamily="34" charset="-120"/>
              </a:rPr>
              <a:t>no offshore quote, so no price thermometer at all</a:t>
            </a:r>
            <a:endParaRPr lang="en-US" sz="1300" dirty="0"/>
          </a:p>
          <a:p>
            <a:pPr indent="0" marL="0">
              <a:lnSpc>
                <a:spcPct val="125000"/>
              </a:lnSpc>
              <a:spcAft>
                <a:spcPts val="700"/>
              </a:spcAft>
              <a:buNone/>
            </a:pPr>
            <a:endParaRPr lang="en-US" sz="1300" dirty="0"/>
          </a:p>
          <a:p>
            <a:pPr indent="0" marL="0">
              <a:lnSpc>
                <a:spcPct val="125000"/>
              </a:lnSpc>
              <a:spcAft>
                <a:spcPts val="700"/>
              </a:spcAft>
              <a:buNone/>
            </a:pPr>
            <a:r>
              <a:rPr lang="en-US" sz="1300" b="1" dirty="0">
                <a:solidFill>
                  <a:srgbClr val="0B0B0B"/>
                </a:solidFill>
                <a:latin typeface="Calibri" pitchFamily="34" charset="0"/>
                <a:ea typeface="Calibri" pitchFamily="34" charset="-122"/>
                <a:cs typeface="Calibri" pitchFamily="34" charset="-120"/>
              </a:rPr>
              <a:t>Only the stock market read it: the two listed producers returned +25% in five days. Some commodities never cross the newsroom threshold — the best proof that the three instruments cover each other's blind spots.</a:t>
            </a:r>
            <a:endParaRPr lang="en-US" sz="1300" dirty="0"/>
          </a:p>
        </p:txBody>
      </p:sp>
      <p:sp>
        <p:nvSpPr>
          <p:cNvPr id="10" name="Text 8"/>
          <p:cNvSpPr/>
          <p:nvPr/>
        </p:nvSpPr>
        <p:spPr>
          <a:xfrm>
            <a:off x="548640" y="5897880"/>
            <a:ext cx="11064240" cy="457200"/>
          </a:xfrm>
          <a:prstGeom prst="rect">
            <a:avLst/>
          </a:prstGeom>
          <a:noFill/>
          <a:ln/>
        </p:spPr>
        <p:txBody>
          <a:bodyPr wrap="square" lIns="0" tIns="0" rIns="0" bIns="0" rtlCol="0" anchor="ctr"/>
          <a:lstStyle/>
          <a:p>
            <a:pPr algn="ctr" indent="0" marL="0">
              <a:buNone/>
            </a:pPr>
            <a:r>
              <a:rPr lang="en-US" sz="1350" b="1" dirty="0">
                <a:solidFill>
                  <a:srgbClr val="0B0B0B"/>
                </a:solidFill>
                <a:latin typeface="Calibri" pitchFamily="34" charset="0"/>
                <a:ea typeface="Calibri" pitchFamily="34" charset="-122"/>
                <a:cs typeface="Calibri" pitchFamily="34" charset="-120"/>
              </a:rPr>
              <a:t>Yunnan Germanium (deeply latent): three straight limit-up days, +37.8% abnormal return in five. The market pays only for power it did not see coming.</a:t>
            </a:r>
            <a:endParaRPr lang="en-US" sz="1350" dirty="0"/>
          </a:p>
        </p:txBody>
      </p:sp>
      <p:sp>
        <p:nvSpPr>
          <p:cNvPr id="11" name="Text 9"/>
          <p:cNvSpPr/>
          <p:nvPr/>
        </p:nvSpPr>
        <p:spPr>
          <a:xfrm>
            <a:off x="548640" y="6446520"/>
            <a:ext cx="11064240" cy="274320"/>
          </a:xfrm>
          <a:prstGeom prst="rect">
            <a:avLst/>
          </a:prstGeom>
          <a:noFill/>
          <a:ln/>
        </p:spPr>
        <p:txBody>
          <a:bodyPr wrap="square" lIns="0" tIns="0" rIns="0" bIns="0" rtlCol="0" anchor="ctr"/>
          <a:lstStyle/>
          <a:p>
            <a:pPr algn="ctr" indent="0" marL="0">
              <a:buNone/>
            </a:pPr>
            <a:r>
              <a:rPr lang="en-US" sz="800" dirty="0">
                <a:solidFill>
                  <a:srgbClr val="898781"/>
                </a:solidFill>
                <a:latin typeface="Calibri" pitchFamily="34" charset="0"/>
                <a:ea typeface="Calibri" pitchFamily="34" charset="-122"/>
                <a:cs typeface="Calibri" pitchFamily="34" charset="-120"/>
              </a:rPr>
              <a:t>Stock data: exchange daily quotes vs CSI 300 — Yunnan Germanium 002428.SZ, Power Diamond 301071.SZ, Huanghe Whirlwind 600172.SH. Antimony price: trade-press assessments.</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74320"/>
          </a:xfrm>
          <a:prstGeom prst="rect">
            <a:avLst/>
          </a:prstGeom>
          <a:noFill/>
          <a:ln/>
        </p:spPr>
        <p:txBody>
          <a:bodyPr wrap="square" lIns="0" tIns="0" rIns="0" bIns="0" rtlCol="0" anchor="ctr"/>
          <a:lstStyle/>
          <a:p>
            <a:pPr indent="0" marL="0">
              <a:buNone/>
            </a:pPr>
            <a:r>
              <a:rPr lang="en-US" sz="1200" b="1" spc="200" kern="0" dirty="0">
                <a:solidFill>
                  <a:srgbClr val="2A78D6"/>
                </a:solidFill>
                <a:latin typeface="Calibri" pitchFamily="34" charset="0"/>
                <a:ea typeface="Calibri" pitchFamily="34" charset="-122"/>
                <a:cs typeface="Calibri" pitchFamily="34" charset="-120"/>
              </a:rPr>
              <a:t>METHOD · AUDIT TRAIL</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The rigor file: every correction is on paper</a:t>
            </a:r>
            <a:endParaRPr lang="en-US" sz="2800" dirty="0"/>
          </a:p>
        </p:txBody>
      </p:sp>
      <p:sp>
        <p:nvSpPr>
          <p:cNvPr id="4" name="Shape 2"/>
          <p:cNvSpPr/>
          <p:nvPr/>
        </p:nvSpPr>
        <p:spPr>
          <a:xfrm>
            <a:off x="548640" y="1554480"/>
            <a:ext cx="5394960" cy="2011680"/>
          </a:xfrm>
          <a:prstGeom prst="roundRect">
            <a:avLst>
              <a:gd name="adj" fmla="val 4545"/>
            </a:avLst>
          </a:prstGeom>
          <a:solidFill>
            <a:srgbClr val="F4F6FA"/>
          </a:solidFill>
          <a:ln/>
        </p:spPr>
      </p:sp>
      <p:sp>
        <p:nvSpPr>
          <p:cNvPr id="5" name="Text 3"/>
          <p:cNvSpPr/>
          <p:nvPr/>
        </p:nvSpPr>
        <p:spPr>
          <a:xfrm>
            <a:off x="804672" y="1755648"/>
            <a:ext cx="4846320" cy="457200"/>
          </a:xfrm>
          <a:prstGeom prst="rect">
            <a:avLst/>
          </a:prstGeom>
          <a:noFill/>
          <a:ln/>
        </p:spPr>
        <p:txBody>
          <a:bodyPr wrap="square" lIns="0" tIns="0" rIns="0" bIns="0" rtlCol="0" anchor="ctr"/>
          <a:lstStyle/>
          <a:p>
            <a:pPr indent="0" marL="0">
              <a:buNone/>
            </a:pPr>
            <a:r>
              <a:rPr lang="en-US" sz="1700" b="1" dirty="0">
                <a:solidFill>
                  <a:srgbClr val="2A78D6"/>
                </a:solidFill>
                <a:latin typeface="Calibri" pitchFamily="34" charset="0"/>
                <a:ea typeface="Calibri" pitchFamily="34" charset="-122"/>
                <a:cs typeface="Calibri" pitchFamily="34" charset="-120"/>
              </a:rPr>
              <a:t>Complete-set audit</a:t>
            </a:r>
            <a:endParaRPr lang="en-US" sz="1700" dirty="0"/>
          </a:p>
        </p:txBody>
      </p:sp>
      <p:sp>
        <p:nvSpPr>
          <p:cNvPr id="6" name="Text 4"/>
          <p:cNvSpPr/>
          <p:nvPr/>
        </p:nvSpPr>
        <p:spPr>
          <a:xfrm>
            <a:off x="804672" y="2267712"/>
            <a:ext cx="4892040" cy="1188720"/>
          </a:xfrm>
          <a:prstGeom prst="rect">
            <a:avLst/>
          </a:prstGeom>
          <a:noFill/>
          <a:ln/>
        </p:spPr>
        <p:txBody>
          <a:bodyPr wrap="square" lIns="0" tIns="0" rIns="0" bIns="0" rtlCol="0" anchor="ctr"/>
          <a:lstStyle/>
          <a:p>
            <a:pPr indent="0" marL="0">
              <a:lnSpc>
                <a:spcPct val="125000"/>
              </a:lnSpc>
              <a:buNone/>
            </a:pPr>
            <a:r>
              <a:rPr lang="en-US" sz="1250" dirty="0">
                <a:solidFill>
                  <a:srgbClr val="52514E"/>
                </a:solidFill>
                <a:latin typeface="Calibri" pitchFamily="34" charset="0"/>
                <a:ea typeface="Calibri" pitchFamily="34" charset="-122"/>
                <a:cs typeface="Calibri" pitchFamily="34" charset="-120"/>
              </a:rPr>
              <a:t>every MOFCOM announcement of 2023–25 checked number by number; the seven exams are the full set of physical mineral controls, nothing picked, nothing skipped</a:t>
            </a:r>
            <a:endParaRPr lang="en-US" sz="1250" dirty="0"/>
          </a:p>
        </p:txBody>
      </p:sp>
      <p:sp>
        <p:nvSpPr>
          <p:cNvPr id="7" name="Shape 5"/>
          <p:cNvSpPr/>
          <p:nvPr/>
        </p:nvSpPr>
        <p:spPr>
          <a:xfrm>
            <a:off x="6263640" y="1554480"/>
            <a:ext cx="5394960" cy="2011680"/>
          </a:xfrm>
          <a:prstGeom prst="roundRect">
            <a:avLst>
              <a:gd name="adj" fmla="val 4545"/>
            </a:avLst>
          </a:prstGeom>
          <a:solidFill>
            <a:srgbClr val="F4F6FA"/>
          </a:solidFill>
          <a:ln/>
        </p:spPr>
      </p:sp>
      <p:sp>
        <p:nvSpPr>
          <p:cNvPr id="8" name="Text 6"/>
          <p:cNvSpPr/>
          <p:nvPr/>
        </p:nvSpPr>
        <p:spPr>
          <a:xfrm>
            <a:off x="6519672" y="1755648"/>
            <a:ext cx="4846320" cy="457200"/>
          </a:xfrm>
          <a:prstGeom prst="rect">
            <a:avLst/>
          </a:prstGeom>
          <a:noFill/>
          <a:ln/>
        </p:spPr>
        <p:txBody>
          <a:bodyPr wrap="square" lIns="0" tIns="0" rIns="0" bIns="0" rtlCol="0" anchor="ctr"/>
          <a:lstStyle/>
          <a:p>
            <a:pPr indent="0" marL="0">
              <a:buNone/>
            </a:pPr>
            <a:r>
              <a:rPr lang="en-US" sz="1700" b="1" dirty="0">
                <a:solidFill>
                  <a:srgbClr val="1BAF7A"/>
                </a:solidFill>
                <a:latin typeface="Calibri" pitchFamily="34" charset="0"/>
                <a:ea typeface="Calibri" pitchFamily="34" charset="-122"/>
                <a:cs typeface="Calibri" pitchFamily="34" charset="-120"/>
              </a:rPr>
              <a:t>Locks and audits</a:t>
            </a:r>
            <a:endParaRPr lang="en-US" sz="1700" dirty="0"/>
          </a:p>
        </p:txBody>
      </p:sp>
      <p:sp>
        <p:nvSpPr>
          <p:cNvPr id="9" name="Text 7"/>
          <p:cNvSpPr/>
          <p:nvPr/>
        </p:nvSpPr>
        <p:spPr>
          <a:xfrm>
            <a:off x="6519672" y="2267712"/>
            <a:ext cx="4892040" cy="1188720"/>
          </a:xfrm>
          <a:prstGeom prst="rect">
            <a:avLst/>
          </a:prstGeom>
          <a:noFill/>
          <a:ln/>
        </p:spPr>
        <p:txBody>
          <a:bodyPr wrap="square" lIns="0" tIns="0" rIns="0" bIns="0" rtlCol="0" anchor="ctr"/>
          <a:lstStyle/>
          <a:p>
            <a:pPr indent="0" marL="0">
              <a:lnSpc>
                <a:spcPct val="125000"/>
              </a:lnSpc>
              <a:buNone/>
            </a:pPr>
            <a:r>
              <a:rPr lang="en-US" sz="1250" dirty="0">
                <a:solidFill>
                  <a:srgbClr val="52514E"/>
                </a:solidFill>
                <a:latin typeface="Calibri" pitchFamily="34" charset="0"/>
                <a:ea typeface="Calibri" pitchFamily="34" charset="-122"/>
                <a:cs typeface="Calibri" pitchFamily="34" charset="-120"/>
              </a:rPr>
              <a:t>scoring formula and term map frozen and archived, then attacked by their own drafter: 23 candidate term overrides, zero effect on headline results</a:t>
            </a:r>
            <a:endParaRPr lang="en-US" sz="1250" dirty="0"/>
          </a:p>
        </p:txBody>
      </p:sp>
      <p:sp>
        <p:nvSpPr>
          <p:cNvPr id="10" name="Shape 8"/>
          <p:cNvSpPr/>
          <p:nvPr/>
        </p:nvSpPr>
        <p:spPr>
          <a:xfrm>
            <a:off x="548640" y="3794760"/>
            <a:ext cx="5394960" cy="2011680"/>
          </a:xfrm>
          <a:prstGeom prst="roundRect">
            <a:avLst>
              <a:gd name="adj" fmla="val 4545"/>
            </a:avLst>
          </a:prstGeom>
          <a:solidFill>
            <a:srgbClr val="F4F6FA"/>
          </a:solidFill>
          <a:ln/>
        </p:spPr>
      </p:sp>
      <p:sp>
        <p:nvSpPr>
          <p:cNvPr id="11" name="Text 9"/>
          <p:cNvSpPr/>
          <p:nvPr/>
        </p:nvSpPr>
        <p:spPr>
          <a:xfrm>
            <a:off x="804672" y="3995928"/>
            <a:ext cx="4846320" cy="457200"/>
          </a:xfrm>
          <a:prstGeom prst="rect">
            <a:avLst/>
          </a:prstGeom>
          <a:noFill/>
          <a:ln/>
        </p:spPr>
        <p:txBody>
          <a:bodyPr wrap="square" lIns="0" tIns="0" rIns="0" bIns="0" rtlCol="0" anchor="ctr"/>
          <a:lstStyle/>
          <a:p>
            <a:pPr indent="0" marL="0">
              <a:buNone/>
            </a:pPr>
            <a:r>
              <a:rPr lang="en-US" sz="1700" b="1" dirty="0">
                <a:solidFill>
                  <a:srgbClr val="EB6834"/>
                </a:solidFill>
                <a:latin typeface="Calibri" pitchFamily="34" charset="0"/>
                <a:ea typeface="Calibri" pitchFamily="34" charset="-122"/>
                <a:cs typeface="Calibri" pitchFamily="34" charset="-120"/>
              </a:rPr>
              <a:t>Seven logged corrections</a:t>
            </a:r>
            <a:endParaRPr lang="en-US" sz="1700" dirty="0"/>
          </a:p>
        </p:txBody>
      </p:sp>
      <p:sp>
        <p:nvSpPr>
          <p:cNvPr id="12" name="Text 10"/>
          <p:cNvSpPr/>
          <p:nvPr/>
        </p:nvSpPr>
        <p:spPr>
          <a:xfrm>
            <a:off x="804672" y="4507992"/>
            <a:ext cx="4892040" cy="1188720"/>
          </a:xfrm>
          <a:prstGeom prst="rect">
            <a:avLst/>
          </a:prstGeom>
          <a:noFill/>
          <a:ln/>
        </p:spPr>
        <p:txBody>
          <a:bodyPr wrap="square" lIns="0" tIns="0" rIns="0" bIns="0" rtlCol="0" anchor="ctr"/>
          <a:lstStyle/>
          <a:p>
            <a:pPr indent="0" marL="0">
              <a:lnSpc>
                <a:spcPct val="125000"/>
              </a:lnSpc>
              <a:buNone/>
            </a:pPr>
            <a:r>
              <a:rPr lang="en-US" sz="1250" dirty="0">
                <a:solidFill>
                  <a:srgbClr val="52514E"/>
                </a:solidFill>
                <a:latin typeface="Calibri" pitchFamily="34" charset="0"/>
                <a:ea typeface="Calibri" pitchFamily="34" charset="-122"/>
                <a:cs typeface="Calibri" pitchFamily="34" charset="-120"/>
              </a:rPr>
              <a:t>from a gallium price-series splice to a retracted collinearity claim; each error's discovery, fix, and retired numbers are in writing</a:t>
            </a:r>
            <a:endParaRPr lang="en-US" sz="1250" dirty="0"/>
          </a:p>
        </p:txBody>
      </p:sp>
      <p:sp>
        <p:nvSpPr>
          <p:cNvPr id="13" name="Shape 11"/>
          <p:cNvSpPr/>
          <p:nvPr/>
        </p:nvSpPr>
        <p:spPr>
          <a:xfrm>
            <a:off x="6263640" y="3794760"/>
            <a:ext cx="5394960" cy="2011680"/>
          </a:xfrm>
          <a:prstGeom prst="roundRect">
            <a:avLst>
              <a:gd name="adj" fmla="val 4545"/>
            </a:avLst>
          </a:prstGeom>
          <a:solidFill>
            <a:srgbClr val="F4F6FA"/>
          </a:solidFill>
          <a:ln/>
        </p:spPr>
      </p:sp>
      <p:sp>
        <p:nvSpPr>
          <p:cNvPr id="14" name="Text 12"/>
          <p:cNvSpPr/>
          <p:nvPr/>
        </p:nvSpPr>
        <p:spPr>
          <a:xfrm>
            <a:off x="6519672" y="3995928"/>
            <a:ext cx="4846320" cy="457200"/>
          </a:xfrm>
          <a:prstGeom prst="rect">
            <a:avLst/>
          </a:prstGeom>
          <a:noFill/>
          <a:ln/>
        </p:spPr>
        <p:txBody>
          <a:bodyPr wrap="square" lIns="0" tIns="0" rIns="0" bIns="0" rtlCol="0" anchor="ctr"/>
          <a:lstStyle/>
          <a:p>
            <a:pPr indent="0" marL="0">
              <a:buNone/>
            </a:pPr>
            <a:r>
              <a:rPr lang="en-US" sz="1700" b="1" dirty="0">
                <a:solidFill>
                  <a:srgbClr val="1C2B4A"/>
                </a:solidFill>
                <a:latin typeface="Calibri" pitchFamily="34" charset="0"/>
                <a:ea typeface="Calibri" pitchFamily="34" charset="-122"/>
                <a:cs typeface="Calibri" pitchFamily="34" charset="-120"/>
              </a:rPr>
              <a:t>Bets on the record</a:t>
            </a:r>
            <a:endParaRPr lang="en-US" sz="1700" dirty="0"/>
          </a:p>
        </p:txBody>
      </p:sp>
      <p:sp>
        <p:nvSpPr>
          <p:cNvPr id="15" name="Text 13"/>
          <p:cNvSpPr/>
          <p:nvPr/>
        </p:nvSpPr>
        <p:spPr>
          <a:xfrm>
            <a:off x="6519672" y="4507992"/>
            <a:ext cx="4892040" cy="1188720"/>
          </a:xfrm>
          <a:prstGeom prst="rect">
            <a:avLst/>
          </a:prstGeom>
          <a:noFill/>
          <a:ln/>
        </p:spPr>
        <p:txBody>
          <a:bodyPr wrap="square" lIns="0" tIns="0" rIns="0" bIns="0" rtlCol="0" anchor="ctr"/>
          <a:lstStyle/>
          <a:p>
            <a:pPr indent="0" marL="0">
              <a:lnSpc>
                <a:spcPct val="125000"/>
              </a:lnSpc>
              <a:buNone/>
            </a:pPr>
            <a:r>
              <a:rPr lang="en-US" sz="1250" dirty="0">
                <a:solidFill>
                  <a:srgbClr val="52514E"/>
                </a:solidFill>
                <a:latin typeface="Calibri" pitchFamily="34" charset="0"/>
                <a:ea typeface="Calibri" pitchFamily="34" charset="-122"/>
                <a:cs typeface="Calibri" pitchFamily="34" charset="-120"/>
              </a:rPr>
              <a:t>fluorspar as the standing #1 prediction; wollastonite as the on-record false light (its restriction would flip it to a hit); the suspension orders expiring November 2026 as a dated bet — pass and fail conditions written in advance</a:t>
            </a:r>
            <a:endParaRPr lang="en-US" sz="1250" dirty="0"/>
          </a:p>
        </p:txBody>
      </p:sp>
      <p:sp>
        <p:nvSpPr>
          <p:cNvPr id="16" name="Text 14"/>
          <p:cNvSpPr/>
          <p:nvPr/>
        </p:nvSpPr>
        <p:spPr>
          <a:xfrm>
            <a:off x="548640" y="6035040"/>
            <a:ext cx="11064240" cy="457200"/>
          </a:xfrm>
          <a:prstGeom prst="rect">
            <a:avLst/>
          </a:prstGeom>
          <a:noFill/>
          <a:ln/>
        </p:spPr>
        <p:txBody>
          <a:bodyPr wrap="square" lIns="0" tIns="0" rIns="0" bIns="0" rtlCol="0" anchor="ctr"/>
          <a:lstStyle/>
          <a:p>
            <a:pPr indent="0" marL="0">
              <a:buNone/>
            </a:pPr>
            <a:r>
              <a:rPr lang="en-US" sz="1250" dirty="0">
                <a:solidFill>
                  <a:srgbClr val="898781"/>
                </a:solidFill>
                <a:latin typeface="Calibri" pitchFamily="34" charset="0"/>
                <a:ea typeface="Calibri" pitchFamily="34" charset="-122"/>
                <a:cs typeface="Calibri" pitchFamily="34" charset="-120"/>
              </a:rPr>
              <a:t>Design principle: each part blocks one specific attack. Steps that were cut (panel regression, the 2×2 table, GDELT as the main source) are logged along with the reasons for cutting them.</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C2B4A"/>
        </a:solidFill>
      </p:bgPr>
    </p:bg>
    <p:spTree>
      <p:nvGrpSpPr>
        <p:cNvPr id="1" name=""/>
        <p:cNvGrpSpPr/>
        <p:nvPr/>
      </p:nvGrpSpPr>
      <p:grpSpPr>
        <a:xfrm>
          <a:off x="0" y="0"/>
          <a:ext cx="0" cy="0"/>
          <a:chOff x="0" y="0"/>
          <a:chExt cx="0" cy="0"/>
        </a:xfrm>
      </p:grpSpPr>
      <p:sp>
        <p:nvSpPr>
          <p:cNvPr id="2" name="Text 0"/>
          <p:cNvSpPr/>
          <p:nvPr/>
        </p:nvSpPr>
        <p:spPr>
          <a:xfrm>
            <a:off x="822960" y="64008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Conclusions, and what comes next</a:t>
            </a:r>
            <a:endParaRPr lang="en-US" sz="3000" dirty="0"/>
          </a:p>
        </p:txBody>
      </p:sp>
      <p:sp>
        <p:nvSpPr>
          <p:cNvPr id="3" name="Shape 1"/>
          <p:cNvSpPr/>
          <p:nvPr/>
        </p:nvSpPr>
        <p:spPr>
          <a:xfrm>
            <a:off x="868680" y="1554480"/>
            <a:ext cx="384048" cy="384048"/>
          </a:xfrm>
          <a:prstGeom prst="ellipse">
            <a:avLst/>
          </a:prstGeom>
          <a:solidFill>
            <a:srgbClr val="EB6834"/>
          </a:solidFill>
          <a:ln/>
        </p:spPr>
      </p:sp>
      <p:sp>
        <p:nvSpPr>
          <p:cNvPr id="4" name="Text 2"/>
          <p:cNvSpPr/>
          <p:nvPr/>
        </p:nvSpPr>
        <p:spPr>
          <a:xfrm>
            <a:off x="868680" y="1540764"/>
            <a:ext cx="38404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p:nvPr/>
        </p:nvSpPr>
        <p:spPr>
          <a:xfrm>
            <a:off x="1463040" y="1508760"/>
            <a:ext cx="10149840" cy="777240"/>
          </a:xfrm>
          <a:prstGeom prst="rect">
            <a:avLst/>
          </a:prstGeom>
          <a:noFill/>
          <a:ln/>
        </p:spPr>
        <p:txBody>
          <a:bodyPr wrap="square" lIns="0" tIns="0" rIns="0" bIns="0" rtlCol="0" anchor="ctr"/>
          <a:lstStyle/>
          <a:p>
            <a:pPr indent="0" marL="0">
              <a:lnSpc>
                <a:spcPct val="120000"/>
              </a:lnSpc>
              <a:buNone/>
            </a:pPr>
            <a:r>
              <a:rPr lang="en-US" sz="1700" b="1" dirty="0">
                <a:solidFill>
                  <a:srgbClr val="CADCFC"/>
                </a:solidFill>
                <a:latin typeface="Calibri" pitchFamily="34" charset="0"/>
                <a:ea typeface="Calibri" pitchFamily="34" charset="-122"/>
                <a:cs typeface="Calibri" pitchFamily="34" charset="-120"/>
              </a:rPr>
              <a:t>Made   </a:t>
            </a:r>
            <a:pPr indent="0" marL="0">
              <a:lnSpc>
                <a:spcPct val="120000"/>
              </a:lnSpc>
              <a:buNone/>
            </a:pPr>
            <a:r>
              <a:rPr lang="en-US" sz="1450" dirty="0">
                <a:solidFill>
                  <a:srgbClr val="FFFFFF"/>
                </a:solidFill>
                <a:latin typeface="Calibri" pitchFamily="34" charset="0"/>
                <a:ea typeface="Calibri" pitchFamily="34" charset="-122"/>
                <a:cs typeface="Calibri" pitchFamily="34" charset="-120"/>
              </a:rPr>
              <a:t>the latent zone is not a market oversight. Byproduct economics keeps producing it, because stacking share inside a host generates no news (H1).</a:t>
            </a:r>
            <a:endParaRPr lang="en-US" sz="1700" dirty="0"/>
          </a:p>
        </p:txBody>
      </p:sp>
      <p:sp>
        <p:nvSpPr>
          <p:cNvPr id="6" name="Shape 4"/>
          <p:cNvSpPr/>
          <p:nvPr/>
        </p:nvSpPr>
        <p:spPr>
          <a:xfrm>
            <a:off x="868680" y="2514600"/>
            <a:ext cx="384048" cy="384048"/>
          </a:xfrm>
          <a:prstGeom prst="ellipse">
            <a:avLst/>
          </a:prstGeom>
          <a:solidFill>
            <a:srgbClr val="EB6834"/>
          </a:solidFill>
          <a:ln/>
        </p:spPr>
      </p:sp>
      <p:sp>
        <p:nvSpPr>
          <p:cNvPr id="7" name="Text 5"/>
          <p:cNvSpPr/>
          <p:nvPr/>
        </p:nvSpPr>
        <p:spPr>
          <a:xfrm>
            <a:off x="868680" y="2500884"/>
            <a:ext cx="38404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8" name="Text 6"/>
          <p:cNvSpPr/>
          <p:nvPr/>
        </p:nvSpPr>
        <p:spPr>
          <a:xfrm>
            <a:off x="1463040" y="2468880"/>
            <a:ext cx="10149840" cy="777240"/>
          </a:xfrm>
          <a:prstGeom prst="rect">
            <a:avLst/>
          </a:prstGeom>
          <a:noFill/>
          <a:ln/>
        </p:spPr>
        <p:txBody>
          <a:bodyPr wrap="square" lIns="0" tIns="0" rIns="0" bIns="0" rtlCol="0" anchor="ctr"/>
          <a:lstStyle/>
          <a:p>
            <a:pPr indent="0" marL="0">
              <a:lnSpc>
                <a:spcPct val="120000"/>
              </a:lnSpc>
              <a:buNone/>
            </a:pPr>
            <a:r>
              <a:rPr lang="en-US" sz="1700" b="1" dirty="0">
                <a:solidFill>
                  <a:srgbClr val="CADCFC"/>
                </a:solidFill>
                <a:latin typeface="Calibri" pitchFamily="34" charset="0"/>
                <a:ea typeface="Calibri" pitchFamily="34" charset="-122"/>
                <a:cs typeface="Calibri" pitchFamily="34" charset="-120"/>
              </a:rPr>
              <a:t>Mapped   </a:t>
            </a:r>
            <a:pPr indent="0" marL="0">
              <a:lnSpc>
                <a:spcPct val="120000"/>
              </a:lnSpc>
              <a:buNone/>
            </a:pPr>
            <a:r>
              <a:rPr lang="en-US" sz="1450" dirty="0">
                <a:solidFill>
                  <a:srgbClr val="FFFFFF"/>
                </a:solidFill>
                <a:latin typeface="Calibri" pitchFamily="34" charset="0"/>
                <a:ea typeface="Calibri" pitchFamily="34" charset="-122"/>
                <a:cs typeface="Calibri" pitchFamily="34" charset="-120"/>
              </a:rPr>
              <a:t>a two-factor score from public data separates real latent chokepoints from false alarms; across seven reveals the cards played came almost entirely from the marked zone, diamond was flagged in every top ten 21–27 months early, and one false light is on record (H2a, p down to 10⁻¹⁰).</a:t>
            </a:r>
            <a:endParaRPr lang="en-US" sz="1700" dirty="0"/>
          </a:p>
        </p:txBody>
      </p:sp>
      <p:sp>
        <p:nvSpPr>
          <p:cNvPr id="9" name="Shape 7"/>
          <p:cNvSpPr/>
          <p:nvPr/>
        </p:nvSpPr>
        <p:spPr>
          <a:xfrm>
            <a:off x="868680" y="3474720"/>
            <a:ext cx="384048" cy="384048"/>
          </a:xfrm>
          <a:prstGeom prst="ellipse">
            <a:avLst/>
          </a:prstGeom>
          <a:solidFill>
            <a:srgbClr val="EB6834"/>
          </a:solidFill>
          <a:ln/>
        </p:spPr>
      </p:sp>
      <p:sp>
        <p:nvSpPr>
          <p:cNvPr id="10" name="Text 8"/>
          <p:cNvSpPr/>
          <p:nvPr/>
        </p:nvSpPr>
        <p:spPr>
          <a:xfrm>
            <a:off x="868680" y="3461004"/>
            <a:ext cx="38404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9"/>
          <p:cNvSpPr/>
          <p:nvPr/>
        </p:nvSpPr>
        <p:spPr>
          <a:xfrm>
            <a:off x="1463040" y="3429000"/>
            <a:ext cx="10149840" cy="777240"/>
          </a:xfrm>
          <a:prstGeom prst="rect">
            <a:avLst/>
          </a:prstGeom>
          <a:noFill/>
          <a:ln/>
        </p:spPr>
        <p:txBody>
          <a:bodyPr wrap="square" lIns="0" tIns="0" rIns="0" bIns="0" rtlCol="0" anchor="ctr"/>
          <a:lstStyle/>
          <a:p>
            <a:pPr indent="0" marL="0">
              <a:lnSpc>
                <a:spcPct val="120000"/>
              </a:lnSpc>
              <a:buNone/>
            </a:pPr>
            <a:r>
              <a:rPr lang="en-US" sz="1700" b="1" dirty="0">
                <a:solidFill>
                  <a:srgbClr val="CADCFC"/>
                </a:solidFill>
                <a:latin typeface="Calibri" pitchFamily="34" charset="0"/>
                <a:ea typeface="Calibri" pitchFamily="34" charset="-122"/>
                <a:cs typeface="Calibri" pitchFamily="34" charset="-120"/>
              </a:rPr>
              <a:t>Woken   </a:t>
            </a:r>
            <a:pPr indent="0" marL="0">
              <a:lnSpc>
                <a:spcPct val="120000"/>
              </a:lnSpc>
              <a:buNone/>
            </a:pPr>
            <a:r>
              <a:rPr lang="en-US" sz="1450" dirty="0">
                <a:solidFill>
                  <a:srgbClr val="FFFFFF"/>
                </a:solidFill>
                <a:latin typeface="Calibri" pitchFamily="34" charset="0"/>
                <a:ea typeface="Calibri" pitchFamily="34" charset="-122"/>
                <a:cs typeface="Calibri" pitchFamily="34" charset="-120"/>
              </a:rPr>
              <a:t>awakening intensity = criticality × unpreparedness, validated directly in prices (ρ=0.89). The market pays only for power it never priced (H2b).</a:t>
            </a:r>
            <a:endParaRPr lang="en-US" sz="1700" dirty="0"/>
          </a:p>
        </p:txBody>
      </p:sp>
      <p:sp>
        <p:nvSpPr>
          <p:cNvPr id="12" name="Shape 10"/>
          <p:cNvSpPr/>
          <p:nvPr/>
        </p:nvSpPr>
        <p:spPr>
          <a:xfrm>
            <a:off x="822960" y="4526280"/>
            <a:ext cx="10515600" cy="13716"/>
          </a:xfrm>
          <a:prstGeom prst="rect">
            <a:avLst/>
          </a:prstGeom>
          <a:solidFill>
            <a:srgbClr val="2E4470"/>
          </a:solidFill>
          <a:ln/>
        </p:spPr>
      </p:sp>
      <p:sp>
        <p:nvSpPr>
          <p:cNvPr id="13" name="Text 11"/>
          <p:cNvSpPr/>
          <p:nvPr/>
        </p:nvSpPr>
        <p:spPr>
          <a:xfrm>
            <a:off x="822960" y="4709160"/>
            <a:ext cx="10607040" cy="1965960"/>
          </a:xfrm>
          <a:prstGeom prst="rect">
            <a:avLst/>
          </a:prstGeom>
          <a:noFill/>
          <a:ln/>
        </p:spPr>
        <p:txBody>
          <a:bodyPr wrap="square" lIns="0" tIns="0" rIns="0" bIns="0" rtlCol="0" anchor="ctr"/>
          <a:lstStyle/>
          <a:p>
            <a:pPr indent="0" marL="0">
              <a:lnSpc>
                <a:spcPct val="130000"/>
              </a:lnSpc>
              <a:spcAft>
                <a:spcPts val="600"/>
              </a:spcAft>
              <a:buNone/>
            </a:pPr>
            <a:r>
              <a:rPr lang="en-US" sz="1300" b="1" dirty="0">
                <a:solidFill>
                  <a:srgbClr val="CADCFC"/>
                </a:solidFill>
                <a:latin typeface="Calibri" pitchFamily="34" charset="0"/>
                <a:ea typeface="Calibri" pitchFamily="34" charset="-122"/>
                <a:cs typeface="Calibri" pitchFamily="34" charset="-120"/>
              </a:rPr>
              <a:t>Next: </a:t>
            </a:r>
            <a:pPr indent="0" marL="0">
              <a:lnSpc>
                <a:spcPct val="130000"/>
              </a:lnSpc>
              <a:spcAft>
                <a:spcPts val="600"/>
              </a:spcAft>
              <a:buNone/>
            </a:pPr>
            <a:r>
              <a:rPr lang="en-US" sz="1300" dirty="0">
                <a:solidFill>
                  <a:srgbClr val="FFFFFF"/>
                </a:solidFill>
                <a:latin typeface="Calibri" pitchFamily="34" charset="0"/>
                <a:ea typeface="Calibri" pitchFamily="34" charset="-122"/>
                <a:cs typeface="Calibri" pitchFamily="34" charset="-120"/>
              </a:rPr>
              <a:t>data and tests are complete and audited; writing starts now (outline set: 9 sections, 5 figures, 3 tables).
</a:t>
            </a:r>
            <a:endParaRPr lang="en-US" sz="1300" dirty="0"/>
          </a:p>
          <a:p>
            <a:pPr indent="0" marL="0">
              <a:lnSpc>
                <a:spcPct val="130000"/>
              </a:lnSpc>
              <a:spcAft>
                <a:spcPts val="600"/>
              </a:spcAft>
              <a:buNone/>
            </a:pPr>
            <a:r>
              <a:rPr lang="en-US" sz="1300" b="1" dirty="0">
                <a:solidFill>
                  <a:srgbClr val="CADCFC"/>
                </a:solidFill>
                <a:latin typeface="Calibri" pitchFamily="34" charset="0"/>
                <a:ea typeface="Calibri" pitchFamily="34" charset="-122"/>
                <a:cs typeface="Calibri" pitchFamily="34" charset="-120"/>
              </a:rPr>
              <a:t>Three things I would like your judgment on:</a:t>
            </a:r>
            <a:endParaRPr lang="en-US" sz="1300" dirty="0"/>
          </a:p>
          <a:p>
            <a:pPr indent="0" marL="0">
              <a:lnSpc>
                <a:spcPct val="130000"/>
              </a:lnSpc>
              <a:spcAft>
                <a:spcPts val="600"/>
              </a:spcAft>
              <a:buNone/>
            </a:pPr>
            <a:r>
              <a:rPr lang="en-US" sz="1300" dirty="0">
                <a:solidFill>
                  <a:srgbClr val="FFFFFF"/>
                </a:solidFill>
                <a:latin typeface="Calibri" pitchFamily="34" charset="0"/>
                <a:ea typeface="Calibri" pitchFamily="34" charset="-122"/>
                <a:cs typeface="Calibri" pitchFamily="34" charset="-120"/>
              </a:rPr>
              <a:t>1.  Venue: is this an IPE / political science paper, or does the theory-plus-prediction package fit a general-interest journal better?</a:t>
            </a:r>
            <a:endParaRPr lang="en-US" sz="1300" dirty="0"/>
          </a:p>
          <a:p>
            <a:pPr indent="0" marL="0">
              <a:lnSpc>
                <a:spcPct val="130000"/>
              </a:lnSpc>
              <a:spcAft>
                <a:spcPts val="600"/>
              </a:spcAft>
              <a:buNone/>
            </a:pPr>
            <a:r>
              <a:rPr lang="en-US" sz="1300" dirty="0">
                <a:solidFill>
                  <a:srgbClr val="FFFFFF"/>
                </a:solidFill>
                <a:latin typeface="Calibri" pitchFamily="34" charset="0"/>
                <a:ea typeface="Calibri" pitchFamily="34" charset="-122"/>
                <a:cs typeface="Calibri" pitchFamily="34" charset="-120"/>
              </a:rPr>
              <a:t>2.  Collaboration: I plan to invite a computational co-author for replication and benchmark packaging, with the theory and data complete. How should author contributions be structured?</a:t>
            </a:r>
            <a:endParaRPr lang="en-US" sz="1300" dirty="0"/>
          </a:p>
          <a:p>
            <a:pPr indent="0" marL="0">
              <a:lnSpc>
                <a:spcPct val="130000"/>
              </a:lnSpc>
              <a:spcAft>
                <a:spcPts val="600"/>
              </a:spcAft>
              <a:buNone/>
            </a:pPr>
            <a:r>
              <a:rPr lang="en-US" sz="1300" dirty="0">
                <a:solidFill>
                  <a:srgbClr val="FFFFFF"/>
                </a:solidFill>
                <a:latin typeface="Calibri" pitchFamily="34" charset="0"/>
                <a:ea typeface="Calibri" pitchFamily="34" charset="-122"/>
                <a:cs typeface="Calibri" pitchFamily="34" charset="-120"/>
              </a:rPr>
              <a:t>3.  The standing predictions (fluorspar; the November 2026 suspension expiry): main text or appendix? How do you weigh the payoff of a public bet against its risk?</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0" cy="274320"/>
          </a:xfrm>
          <a:prstGeom prst="rect">
            <a:avLst/>
          </a:prstGeom>
          <a:noFill/>
          <a:ln/>
        </p:spPr>
        <p:txBody>
          <a:bodyPr wrap="square" lIns="0" tIns="0" rIns="0" bIns="0" rtlCol="0" anchor="ctr"/>
          <a:lstStyle/>
          <a:p>
            <a:pPr indent="0" marL="0">
              <a:buNone/>
            </a:pPr>
            <a:r>
              <a:rPr lang="en-US" sz="1200" b="1" spc="200" kern="0" dirty="0">
                <a:solidFill>
                  <a:srgbClr val="2A78D6"/>
                </a:solidFill>
                <a:latin typeface="Calibri" pitchFamily="34" charset="0"/>
                <a:ea typeface="Calibri" pitchFamily="34" charset="-122"/>
                <a:cs typeface="Calibri" pitchFamily="34" charset="-120"/>
              </a:rPr>
              <a:t>REFERENCES</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2800" b="1" dirty="0">
                <a:solidFill>
                  <a:srgbClr val="0B0B0B"/>
                </a:solidFill>
                <a:latin typeface="Calibri" pitchFamily="34" charset="0"/>
                <a:ea typeface="Calibri" pitchFamily="34" charset="-122"/>
                <a:cs typeface="Calibri" pitchFamily="34" charset="-120"/>
              </a:rPr>
              <a:t>References and data sources</a:t>
            </a:r>
            <a:endParaRPr lang="en-US" sz="2800" dirty="0"/>
          </a:p>
        </p:txBody>
      </p:sp>
      <p:sp>
        <p:nvSpPr>
          <p:cNvPr id="4" name="Text 2"/>
          <p:cNvSpPr/>
          <p:nvPr/>
        </p:nvSpPr>
        <p:spPr>
          <a:xfrm>
            <a:off x="548640" y="1371600"/>
            <a:ext cx="5440680" cy="320040"/>
          </a:xfrm>
          <a:prstGeom prst="rect">
            <a:avLst/>
          </a:prstGeom>
          <a:noFill/>
          <a:ln/>
        </p:spPr>
        <p:txBody>
          <a:bodyPr wrap="square" lIns="0" tIns="0" rIns="0" bIns="0" rtlCol="0" anchor="ctr"/>
          <a:lstStyle/>
          <a:p>
            <a:pPr indent="0" marL="0">
              <a:buNone/>
            </a:pPr>
            <a:r>
              <a:rPr lang="en-US" sz="1400" b="1" dirty="0">
                <a:solidFill>
                  <a:srgbClr val="2A78D6"/>
                </a:solidFill>
                <a:latin typeface="Calibri" pitchFamily="34" charset="0"/>
                <a:ea typeface="Calibri" pitchFamily="34" charset="-122"/>
                <a:cs typeface="Calibri" pitchFamily="34" charset="-120"/>
              </a:rPr>
              <a:t>Data</a:t>
            </a:r>
            <a:endParaRPr lang="en-US" sz="1400" dirty="0"/>
          </a:p>
        </p:txBody>
      </p:sp>
      <p:sp>
        <p:nvSpPr>
          <p:cNvPr id="5" name="Text 3"/>
          <p:cNvSpPr/>
          <p:nvPr/>
        </p:nvSpPr>
        <p:spPr>
          <a:xfrm>
            <a:off x="548640" y="1737360"/>
            <a:ext cx="5440680" cy="4754880"/>
          </a:xfrm>
          <a:prstGeom prst="rect">
            <a:avLst/>
          </a:prstGeom>
          <a:noFill/>
          <a:ln/>
        </p:spPr>
        <p:txBody>
          <a:bodyPr wrap="square" lIns="0" tIns="0" rIns="0" bIns="0" rtlCol="0" anchor="ctr"/>
          <a:lstStyle/>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U.S. Geological Survey. Mineral Commodity Summaries, 2016–2024 editions; Minerals Yearbook, gallium chapters 2002–2022.</a:t>
            </a:r>
            <a:endParaRPr lang="en-US" sz="950" dirty="0"/>
          </a:p>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Nassar, N.T. &amp; S.M. Fortier (2021). Methodology and Technical Input for the 2021 Review and Revision of the U.S. Critical Minerals List. USGS Open-File Report 2021–1045.</a:t>
            </a:r>
            <a:endParaRPr lang="en-US" sz="950" dirty="0"/>
          </a:p>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MOFCOM, PRC. Announcements No. 23, 39 (2023); No. 33, 46 (2024); No. 10, 18, 55–58, 61, 62, 70, 72 (2025). Official texts, archived with URLs.</a:t>
            </a:r>
            <a:endParaRPr lang="en-US" sz="950" dirty="0"/>
          </a:p>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U.S. Department of Energy (2022). Rare Earth Permanent Magnets: Supply Chain Deep Dive Assessment. February 2022.</a:t>
            </a:r>
            <a:endParaRPr lang="en-US" sz="950" dirty="0"/>
          </a:p>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SCRREEN project (2023). Critical raw materials factsheets. EU Horizon 2020.</a:t>
            </a:r>
            <a:endParaRPr lang="en-US" sz="950" dirty="0"/>
          </a:p>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Benchmark Mineral Intelligence (2026). Quarterly price assessments: natural and synthetic graphite, anodes.</a:t>
            </a:r>
            <a:endParaRPr lang="en-US" sz="950" dirty="0"/>
          </a:p>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Media Cloud news archive — Roberts, H., et al. (2021). Media Cloud: Massive Open Source Collection of Global News on the Open Web. Proc. ICWSM 15.</a:t>
            </a:r>
            <a:endParaRPr lang="en-US" sz="950" dirty="0"/>
          </a:p>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SSE/SZSE daily quotes and CSI 300 index (via Yahoo Finance API).</a:t>
            </a:r>
            <a:endParaRPr lang="en-US" sz="950" dirty="0"/>
          </a:p>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MEE environmental-impact disclosures; listed-company announcements and investor Q&amp;A; China Nonferrous Metals News (2019 plant survey); SHFE registered-brand list (2024); Mysteel / CIB Futures / Founder CIFCO alumina capacity tables (2023–2025).</a:t>
            </a:r>
            <a:endParaRPr lang="en-US" sz="950" dirty="0"/>
          </a:p>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Reuters (2022-03-11). “Ukraine halts half of world's neon output for chips, clouding outlook.” Carried by CNN and CNBC.</a:t>
            </a:r>
            <a:endParaRPr lang="en-US" sz="950" dirty="0"/>
          </a:p>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Reuters (2023-07-04). “US firm AXT applying for permits after China restricts chipmaking exports.”</a:t>
            </a:r>
            <a:endParaRPr lang="en-US" sz="950" dirty="0"/>
          </a:p>
        </p:txBody>
      </p:sp>
      <p:sp>
        <p:nvSpPr>
          <p:cNvPr id="6" name="Text 4"/>
          <p:cNvSpPr/>
          <p:nvPr/>
        </p:nvSpPr>
        <p:spPr>
          <a:xfrm>
            <a:off x="6263640" y="1371600"/>
            <a:ext cx="5394960" cy="320040"/>
          </a:xfrm>
          <a:prstGeom prst="rect">
            <a:avLst/>
          </a:prstGeom>
          <a:noFill/>
          <a:ln/>
        </p:spPr>
        <p:txBody>
          <a:bodyPr wrap="square" lIns="0" tIns="0" rIns="0" bIns="0" rtlCol="0" anchor="ctr"/>
          <a:lstStyle/>
          <a:p>
            <a:pPr indent="0" marL="0">
              <a:buNone/>
            </a:pPr>
            <a:r>
              <a:rPr lang="en-US" sz="1400" b="1" dirty="0">
                <a:solidFill>
                  <a:srgbClr val="EB6834"/>
                </a:solidFill>
                <a:latin typeface="Calibri" pitchFamily="34" charset="0"/>
                <a:ea typeface="Calibri" pitchFamily="34" charset="-122"/>
                <a:cs typeface="Calibri" pitchFamily="34" charset="-120"/>
              </a:rPr>
              <a:t>Theory</a:t>
            </a:r>
            <a:endParaRPr lang="en-US" sz="1400" dirty="0"/>
          </a:p>
        </p:txBody>
      </p:sp>
      <p:sp>
        <p:nvSpPr>
          <p:cNvPr id="7" name="Text 5"/>
          <p:cNvSpPr/>
          <p:nvPr/>
        </p:nvSpPr>
        <p:spPr>
          <a:xfrm>
            <a:off x="6263640" y="1737360"/>
            <a:ext cx="5394960" cy="3840480"/>
          </a:xfrm>
          <a:prstGeom prst="rect">
            <a:avLst/>
          </a:prstGeom>
          <a:noFill/>
          <a:ln/>
        </p:spPr>
        <p:txBody>
          <a:bodyPr wrap="square" lIns="0" tIns="0" rIns="0" bIns="0" rtlCol="0" anchor="ctr"/>
          <a:lstStyle/>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Farrell, H. &amp; A.L. Newman (2019). Weaponized Interdependence: How Global Economic Networks Shape State Coercion. International Security 44(1): 42–79.</a:t>
            </a:r>
            <a:endParaRPr lang="en-US" sz="950" dirty="0"/>
          </a:p>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Soros, G. (2013). Fallibility, Reflexivity, and the Human Uncertainty Principle. Journal of Economic Methodology 20(4): 309–329.</a:t>
            </a:r>
            <a:endParaRPr lang="en-US" sz="950" dirty="0"/>
          </a:p>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Grunberg, E. &amp; F. Modigliani (1954). The Predictability of Social Events. Journal of Political Economy 62(6): 465–478.</a:t>
            </a:r>
            <a:endParaRPr lang="en-US" sz="950" dirty="0"/>
          </a:p>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Lucas, R.E., Jr. (1976). Econometric Policy Evaluation: A Critique. Carnegie-Rochester Conference Series on Public Policy 1: 19–46.</a:t>
            </a:r>
            <a:endParaRPr lang="en-US" sz="950" dirty="0"/>
          </a:p>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Merton, R.K. (1948). The Self-Fulfilling Prophecy. Antioch Review 8(2): 193–210.</a:t>
            </a:r>
            <a:endParaRPr lang="en-US" sz="950" dirty="0"/>
          </a:p>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Berger, P.L. &amp; T. Luckmann (1966). The Social Construction of Reality. Anchor Books.</a:t>
            </a:r>
            <a:endParaRPr lang="en-US" sz="950" dirty="0"/>
          </a:p>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Graedel, T.E., et al. (2015). Criticality of Metals and Metalloids. PNAS 112(14): 4257–4262.</a:t>
            </a:r>
            <a:endParaRPr lang="en-US" sz="950" dirty="0"/>
          </a:p>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Hughes, T.P. (1969). Technological Momentum in History: Hydrogenation in Germany 1898–1933. Past &amp; Present 44: 106–132.</a:t>
            </a:r>
            <a:endParaRPr lang="en-US" sz="950" dirty="0"/>
          </a:p>
          <a:p>
            <a:pPr marL="342900" indent="-342900">
              <a:lnSpc>
                <a:spcPct val="112000"/>
              </a:lnSpc>
              <a:spcAft>
                <a:spcPts val="500"/>
              </a:spcAft>
              <a:buSzPct val="100000"/>
              <a:buChar char="•"/>
            </a:pPr>
            <a:r>
              <a:rPr lang="en-US" sz="950" dirty="0">
                <a:solidFill>
                  <a:srgbClr val="52514E"/>
                </a:solidFill>
                <a:latin typeface="Calibri" pitchFamily="34" charset="0"/>
                <a:ea typeface="Calibri" pitchFamily="34" charset="-122"/>
                <a:cs typeface="Calibri" pitchFamily="34" charset="-120"/>
              </a:rPr>
              <a:t>Callon, M. (1991). Techno-economic Networks and Irreversibility. In J. Law (ed.), A Sociology of Monsters. Routledge.</a:t>
            </a:r>
            <a:endParaRPr lang="en-US" sz="950" dirty="0"/>
          </a:p>
        </p:txBody>
      </p:sp>
      <p:sp>
        <p:nvSpPr>
          <p:cNvPr id="8" name="Text 6"/>
          <p:cNvSpPr/>
          <p:nvPr/>
        </p:nvSpPr>
        <p:spPr>
          <a:xfrm>
            <a:off x="6263640" y="5806440"/>
            <a:ext cx="5394960" cy="548640"/>
          </a:xfrm>
          <a:prstGeom prst="rect">
            <a:avLst/>
          </a:prstGeom>
          <a:noFill/>
          <a:ln/>
        </p:spPr>
        <p:txBody>
          <a:bodyPr wrap="square" lIns="0" tIns="0" rIns="0" bIns="0" rtlCol="0" anchor="ctr"/>
          <a:lstStyle/>
          <a:p>
            <a:pPr indent="0" marL="0">
              <a:lnSpc>
                <a:spcPct val="115000"/>
              </a:lnSpc>
              <a:buNone/>
            </a:pPr>
            <a:r>
              <a:rPr lang="en-US" sz="950" dirty="0">
                <a:solidFill>
                  <a:srgbClr val="898781"/>
                </a:solidFill>
                <a:latin typeface="Calibri" pitchFamily="34" charset="0"/>
                <a:ea typeface="Calibri" pitchFamily="34" charset="-122"/>
                <a:cs typeface="Calibri" pitchFamily="34" charset="-120"/>
              </a:rPr>
              <a:t>URL-level sourcing for every data point: evidence_manifest.csv, host_vintage_gallium.csv, h2b_activation.csv, and the notes block inside each figure.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2026-08-15T22:24:05Z</dcterms:created>
  <dcterms:modified xsi:type="dcterms:W3CDTF">2026-08-15T22:24:05Z</dcterms:modified>
</cp:coreProperties>
</file>